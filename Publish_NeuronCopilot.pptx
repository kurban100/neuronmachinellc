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73" d="100"/>
          <a:sy n="73" d="100"/>
        </p:scale>
        <p:origin x="366"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FEA9-00D1-9F15-39E1-EB6C079218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A84DC0-0379-A902-1C9B-4C788FD10E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B15C74-F6C9-278C-5C91-4D47500F8370}"/>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5" name="Footer Placeholder 4">
            <a:extLst>
              <a:ext uri="{FF2B5EF4-FFF2-40B4-BE49-F238E27FC236}">
                <a16:creationId xmlns:a16="http://schemas.microsoft.com/office/drawing/2014/main" id="{F093B752-13AB-570A-7666-E30121EA39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04A20-0A79-E4D7-0B13-E9AFD118B117}"/>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1901724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E106-FEDF-77C8-A8EE-7164F2F3E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1364C1-89AF-B796-B5B0-0290059777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92ABB7-0D06-3683-C877-E9C3C539F0F4}"/>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5" name="Footer Placeholder 4">
            <a:extLst>
              <a:ext uri="{FF2B5EF4-FFF2-40B4-BE49-F238E27FC236}">
                <a16:creationId xmlns:a16="http://schemas.microsoft.com/office/drawing/2014/main" id="{C974A9BE-1544-0FE2-6988-D1B0B64600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8B646-8813-3D64-EDE3-D3DC3DC9C382}"/>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356882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D50C9-5A16-1BBC-7BC8-7272223116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5346E1-6A48-1ABB-367C-138E36191C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775B8F-E51C-E866-2051-64EC3B0080BA}"/>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5" name="Footer Placeholder 4">
            <a:extLst>
              <a:ext uri="{FF2B5EF4-FFF2-40B4-BE49-F238E27FC236}">
                <a16:creationId xmlns:a16="http://schemas.microsoft.com/office/drawing/2014/main" id="{07128695-14ED-4DC3-9E0C-4DD2488A2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B7EFA7-7CFC-D33B-B0A6-C056E0B48650}"/>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1738603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5A99B-06DB-D970-3AFB-9632B864D8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23AF45-53C9-2D25-6C06-766B2A33AE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8886A9-C5D5-E5CD-DA26-D3875D9559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E1996A-C655-64B3-A7E2-342B15A3EFD1}"/>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6" name="Footer Placeholder 5">
            <a:extLst>
              <a:ext uri="{FF2B5EF4-FFF2-40B4-BE49-F238E27FC236}">
                <a16:creationId xmlns:a16="http://schemas.microsoft.com/office/drawing/2014/main" id="{9D40314C-711B-227C-EBEA-891CD93BBB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205C7-E846-FDCE-3F57-B8430A0C8E1F}"/>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2388521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A7355-659D-404E-D8B2-7C546B5333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557683-56EE-E7A1-3BAA-5266E409A4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997D58-1A87-06D1-97EF-6412246760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D28EF4-731A-4C84-DFB9-EF11D9E71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8A8654-4F53-32D4-B1CA-D8C949E4C4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5B6F01-2246-CCEB-93E4-10EF536A33C0}"/>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8" name="Footer Placeholder 7">
            <a:extLst>
              <a:ext uri="{FF2B5EF4-FFF2-40B4-BE49-F238E27FC236}">
                <a16:creationId xmlns:a16="http://schemas.microsoft.com/office/drawing/2014/main" id="{0F90313A-3087-DD97-623B-1693724E6C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AE3102-239C-EC86-8894-74F0C2671A1A}"/>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702873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4419-7DB8-10CA-77E9-B3DCADE70C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857817-219B-CCD7-7B62-EAC1F7C4225E}"/>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4" name="Footer Placeholder 3">
            <a:extLst>
              <a:ext uri="{FF2B5EF4-FFF2-40B4-BE49-F238E27FC236}">
                <a16:creationId xmlns:a16="http://schemas.microsoft.com/office/drawing/2014/main" id="{4B923A8C-840D-553E-CD85-8E17EABEF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77781D-7CC7-5C7E-E866-9FC94066D727}"/>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3158471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D7046-0C24-834E-9307-17DB748028BD}"/>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3" name="Footer Placeholder 2">
            <a:extLst>
              <a:ext uri="{FF2B5EF4-FFF2-40B4-BE49-F238E27FC236}">
                <a16:creationId xmlns:a16="http://schemas.microsoft.com/office/drawing/2014/main" id="{35CCB4DE-545D-9088-0986-E96C201A62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BFA767-55CB-29B4-1502-41FC00EC0D34}"/>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365004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0F9FC-F883-DCB5-DCBB-8A728603E6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44908E-AE44-CAA8-A1B4-14DA75E73E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E96735-C902-9D09-85FB-123D695F36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3B8862-F7A9-1869-3F7D-3A36E4486B40}"/>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6" name="Footer Placeholder 5">
            <a:extLst>
              <a:ext uri="{FF2B5EF4-FFF2-40B4-BE49-F238E27FC236}">
                <a16:creationId xmlns:a16="http://schemas.microsoft.com/office/drawing/2014/main" id="{879CA441-3A34-7FF7-04EF-209A41F712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CEC88E-0FAD-C190-F63C-0EBC406B0878}"/>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1333206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D844-01C7-D93E-DA9A-2704C9DF7C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29B90B-2014-2E33-013C-9084B79818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B41D99-1322-76AB-E0C0-5BCB12B0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0D0E37-0055-7E35-2995-84A870E8BCBE}"/>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6" name="Footer Placeholder 5">
            <a:extLst>
              <a:ext uri="{FF2B5EF4-FFF2-40B4-BE49-F238E27FC236}">
                <a16:creationId xmlns:a16="http://schemas.microsoft.com/office/drawing/2014/main" id="{3B922CD5-AE86-A44D-944A-E3423C545C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AD8FE2-4213-05AC-064C-2DD97FDBE27D}"/>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2581620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F1369-0C00-A5CA-82DD-3E0D46191E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8A3636-76C8-AEB9-9513-7E8BA9ADDD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8B0FC4-4B86-7EC9-510D-12A69A647443}"/>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5" name="Footer Placeholder 4">
            <a:extLst>
              <a:ext uri="{FF2B5EF4-FFF2-40B4-BE49-F238E27FC236}">
                <a16:creationId xmlns:a16="http://schemas.microsoft.com/office/drawing/2014/main" id="{3894547D-9FD5-2B60-4D9F-75E288980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DC5FD3-8E36-D937-3A03-3B2CBB0FE8BC}"/>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1111400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BDA975-2B66-E44E-5158-0E3915A351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2E7547-C9ED-727D-C960-564D41DC86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5A7FC-5D97-4853-2A1D-63A36EC0C381}"/>
              </a:ext>
            </a:extLst>
          </p:cNvPr>
          <p:cNvSpPr>
            <a:spLocks noGrp="1"/>
          </p:cNvSpPr>
          <p:nvPr>
            <p:ph type="dt" sz="half" idx="10"/>
          </p:nvPr>
        </p:nvSpPr>
        <p:spPr/>
        <p:txBody>
          <a:bodyPr/>
          <a:lstStyle/>
          <a:p>
            <a:fld id="{EF96DBFC-A308-4CCF-A948-86EDFC58F89B}" type="datetimeFigureOut">
              <a:rPr lang="en-US" smtClean="0"/>
              <a:t>7/14/2026</a:t>
            </a:fld>
            <a:endParaRPr lang="en-US"/>
          </a:p>
        </p:txBody>
      </p:sp>
      <p:sp>
        <p:nvSpPr>
          <p:cNvPr id="5" name="Footer Placeholder 4">
            <a:extLst>
              <a:ext uri="{FF2B5EF4-FFF2-40B4-BE49-F238E27FC236}">
                <a16:creationId xmlns:a16="http://schemas.microsoft.com/office/drawing/2014/main" id="{2928A366-13F5-5751-3AB6-F631521C0A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6E1F9-46BA-F1D1-B5F2-AD324E9DF113}"/>
              </a:ext>
            </a:extLst>
          </p:cNvPr>
          <p:cNvSpPr>
            <a:spLocks noGrp="1"/>
          </p:cNvSpPr>
          <p:nvPr>
            <p:ph type="sldNum" sz="quarter" idx="12"/>
          </p:nvPr>
        </p:nvSpPr>
        <p:spPr/>
        <p:txBody>
          <a:bodyPr/>
          <a:lstStyle/>
          <a:p>
            <a:fld id="{24FBBAFD-B661-4CF3-9D90-90C22C4FFE0A}" type="slidenum">
              <a:rPr lang="en-US" smtClean="0"/>
              <a:t>‹#›</a:t>
            </a:fld>
            <a:endParaRPr lang="en-US"/>
          </a:p>
        </p:txBody>
      </p:sp>
    </p:spTree>
    <p:extLst>
      <p:ext uri="{BB962C8B-B14F-4D97-AF65-F5344CB8AC3E}">
        <p14:creationId xmlns:p14="http://schemas.microsoft.com/office/powerpoint/2010/main" val="284831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87C7C2-38DD-3FB1-A1B8-AF0A6859AE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632BC5-CC76-A507-606F-8AB7A25865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C09473-C364-F343-B9A4-4DAA25535B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96DBFC-A308-4CCF-A948-86EDFC58F89B}" type="datetimeFigureOut">
              <a:rPr lang="en-US" smtClean="0"/>
              <a:t>7/14/2026</a:t>
            </a:fld>
            <a:endParaRPr lang="en-US"/>
          </a:p>
        </p:txBody>
      </p:sp>
      <p:sp>
        <p:nvSpPr>
          <p:cNvPr id="5" name="Footer Placeholder 4">
            <a:extLst>
              <a:ext uri="{FF2B5EF4-FFF2-40B4-BE49-F238E27FC236}">
                <a16:creationId xmlns:a16="http://schemas.microsoft.com/office/drawing/2014/main" id="{BF73ACBE-B93F-0184-D571-A5E31BF604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EFD2182-FCF8-9F2D-9A91-265DC9668C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FBBAFD-B661-4CF3-9D90-90C22C4FFE0A}" type="slidenum">
              <a:rPr lang="en-US" smtClean="0"/>
              <a:t>‹#›</a:t>
            </a:fld>
            <a:endParaRPr lang="en-US"/>
          </a:p>
        </p:txBody>
      </p:sp>
    </p:spTree>
    <p:extLst>
      <p:ext uri="{BB962C8B-B14F-4D97-AF65-F5344CB8AC3E}">
        <p14:creationId xmlns:p14="http://schemas.microsoft.com/office/powerpoint/2010/main" val="790037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laude.ai/chat/7290249d-ea33-403d-8303-7efd737e2da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3178-356A-3AC2-9429-E41263E5A1DA}"/>
              </a:ext>
            </a:extLst>
          </p:cNvPr>
          <p:cNvSpPr>
            <a:spLocks noGrp="1"/>
          </p:cNvSpPr>
          <p:nvPr>
            <p:ph type="ctrTitle"/>
          </p:nvPr>
        </p:nvSpPr>
        <p:spPr>
          <a:xfrm>
            <a:off x="1524000" y="1122363"/>
            <a:ext cx="9144000" cy="758688"/>
          </a:xfrm>
        </p:spPr>
        <p:txBody>
          <a:bodyPr>
            <a:normAutofit/>
          </a:bodyPr>
          <a:lstStyle/>
          <a:p>
            <a:r>
              <a:rPr lang="en-US" sz="2400" dirty="0">
                <a:latin typeface="Arial Black" panose="020B0A04020102020204" pitchFamily="34" charset="0"/>
              </a:rPr>
              <a:t>Publish_NeuronCopilot</a:t>
            </a:r>
          </a:p>
        </p:txBody>
      </p:sp>
      <p:sp>
        <p:nvSpPr>
          <p:cNvPr id="3" name="Subtitle 2">
            <a:extLst>
              <a:ext uri="{FF2B5EF4-FFF2-40B4-BE49-F238E27FC236}">
                <a16:creationId xmlns:a16="http://schemas.microsoft.com/office/drawing/2014/main" id="{D41CB00B-ED16-9247-BCAE-34997AED605F}"/>
              </a:ext>
            </a:extLst>
          </p:cNvPr>
          <p:cNvSpPr>
            <a:spLocks noGrp="1"/>
          </p:cNvSpPr>
          <p:nvPr>
            <p:ph type="subTitle" idx="1"/>
          </p:nvPr>
        </p:nvSpPr>
        <p:spPr>
          <a:xfrm>
            <a:off x="1524000" y="2508069"/>
            <a:ext cx="9144000" cy="2749731"/>
          </a:xfrm>
        </p:spPr>
        <p:txBody>
          <a:bodyPr/>
          <a:lstStyle/>
          <a:p>
            <a:r>
              <a:rPr lang="en-US">
                <a:hlinkClick r:id="rId2"/>
              </a:rPr>
              <a:t>https://claude.ai/chat/7290249d-ea33-403d-8303-7efd737e2da0</a:t>
            </a:r>
            <a:endParaRPr lang="en-US" dirty="0"/>
          </a:p>
        </p:txBody>
      </p:sp>
    </p:spTree>
    <p:extLst>
      <p:ext uri="{BB962C8B-B14F-4D97-AF65-F5344CB8AC3E}">
        <p14:creationId xmlns:p14="http://schemas.microsoft.com/office/powerpoint/2010/main" val="1358296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13B0E-7B19-9A50-7DBA-0531C1CC76E5}"/>
              </a:ext>
            </a:extLst>
          </p:cNvPr>
          <p:cNvSpPr>
            <a:spLocks noGrp="1"/>
          </p:cNvSpPr>
          <p:nvPr>
            <p:ph type="title"/>
          </p:nvPr>
        </p:nvSpPr>
        <p:spPr>
          <a:xfrm>
            <a:off x="838200" y="365125"/>
            <a:ext cx="10515600" cy="660309"/>
          </a:xfrm>
        </p:spPr>
        <p:txBody>
          <a:bodyPr>
            <a:normAutofit/>
          </a:bodyPr>
          <a:lstStyle/>
          <a:p>
            <a:pPr algn="ctr"/>
            <a:r>
              <a:rPr lang="en-US" sz="2400" b="1" dirty="0"/>
              <a:t>neuronmachinellc.com!</a:t>
            </a:r>
            <a:r>
              <a:rPr lang="en-US" sz="2400" dirty="0"/>
              <a:t> 💯</a:t>
            </a:r>
          </a:p>
        </p:txBody>
      </p:sp>
      <p:sp>
        <p:nvSpPr>
          <p:cNvPr id="3" name="Content Placeholder 2">
            <a:extLst>
              <a:ext uri="{FF2B5EF4-FFF2-40B4-BE49-F238E27FC236}">
                <a16:creationId xmlns:a16="http://schemas.microsoft.com/office/drawing/2014/main" id="{6AAC58B7-BE4D-565B-F016-3433E1A3CD08}"/>
              </a:ext>
            </a:extLst>
          </p:cNvPr>
          <p:cNvSpPr>
            <a:spLocks noGrp="1"/>
          </p:cNvSpPr>
          <p:nvPr>
            <p:ph idx="1"/>
          </p:nvPr>
        </p:nvSpPr>
        <p:spPr>
          <a:xfrm>
            <a:off x="838200" y="1312817"/>
            <a:ext cx="10515600" cy="4864146"/>
          </a:xfrm>
        </p:spPr>
        <p:txBody>
          <a:bodyPr>
            <a:normAutofit fontScale="92500" lnSpcReduction="10000"/>
          </a:bodyPr>
          <a:lstStyle/>
          <a:p>
            <a:r>
              <a:rPr lang="en-US" sz="1800" b="1" dirty="0"/>
              <a:t>PERFECT!</a:t>
            </a:r>
            <a:r>
              <a:rPr lang="en-US" sz="1800" dirty="0"/>
              <a:t> ✅</a:t>
            </a:r>
          </a:p>
          <a:p>
            <a:r>
              <a:rPr lang="en-US" sz="1800" b="1" dirty="0"/>
              <a:t>You already OWN neuronmachinellc.com!</a:t>
            </a:r>
            <a:r>
              <a:rPr lang="en-US" sz="1800" dirty="0"/>
              <a:t> 💯</a:t>
            </a:r>
            <a:br>
              <a:rPr lang="en-US" sz="1800" dirty="0"/>
            </a:br>
            <a:endParaRPr lang="en-US" sz="1800" dirty="0"/>
          </a:p>
          <a:p>
            <a:r>
              <a:rPr lang="en-US" sz="1800" b="1" dirty="0"/>
              <a:t>NEXT STEPS - LAUNCH YOUR WEBSITE:</a:t>
            </a:r>
            <a:endParaRPr lang="en-US" sz="1800" dirty="0"/>
          </a:p>
          <a:p>
            <a:pPr marL="0" indent="0">
              <a:buNone/>
            </a:pPr>
            <a:r>
              <a:rPr lang="en-US" sz="2200" b="1" dirty="0">
                <a:latin typeface="Arial Black" panose="020B0A04020102020204" pitchFamily="34" charset="0"/>
              </a:rPr>
              <a:t>OPTION A - FREE (GitHub Pages):</a:t>
            </a:r>
            <a:endParaRPr lang="en-US" sz="2200" dirty="0">
              <a:latin typeface="Arial Black" panose="020B0A04020102020204" pitchFamily="34" charset="0"/>
            </a:endParaRPr>
          </a:p>
          <a:p>
            <a:pPr marL="0" indent="0">
              <a:buNone/>
            </a:pPr>
            <a:r>
              <a:rPr lang="en-US" sz="2200" b="1" dirty="0">
                <a:latin typeface="Arial Black" panose="020B0A04020102020204" pitchFamily="34" charset="0"/>
              </a:rPr>
              <a:t>1. Upload website to GitHub</a:t>
            </a:r>
            <a:endParaRPr lang="en-US" sz="2200" dirty="0">
              <a:latin typeface="Arial Black" panose="020B0A04020102020204" pitchFamily="34" charset="0"/>
            </a:endParaRPr>
          </a:p>
          <a:p>
            <a:pPr marL="0" indent="0">
              <a:buNone/>
            </a:pPr>
            <a:r>
              <a:rPr lang="en-US" sz="1800" b="1" i="1" dirty="0">
                <a:latin typeface="Times New Roman" panose="02020603050405020304" pitchFamily="18" charset="0"/>
                <a:cs typeface="Times New Roman" panose="02020603050405020304" pitchFamily="18" charset="0"/>
              </a:rPr>
              <a:t>git init</a:t>
            </a:r>
          </a:p>
          <a:p>
            <a:pPr marL="0" indent="0">
              <a:buNone/>
            </a:pPr>
            <a:r>
              <a:rPr lang="en-US" sz="1800" b="1" i="1" dirty="0">
                <a:latin typeface="Times New Roman" panose="02020603050405020304" pitchFamily="18" charset="0"/>
                <a:cs typeface="Times New Roman" panose="02020603050405020304" pitchFamily="18" charset="0"/>
              </a:rPr>
              <a:t>   git add .</a:t>
            </a:r>
          </a:p>
          <a:p>
            <a:pPr marL="0" indent="0">
              <a:buNone/>
            </a:pPr>
            <a:r>
              <a:rPr lang="en-US" sz="1800" b="1" i="1" dirty="0">
                <a:latin typeface="Times New Roman" panose="02020603050405020304" pitchFamily="18" charset="0"/>
                <a:cs typeface="Times New Roman" panose="02020603050405020304" pitchFamily="18" charset="0"/>
              </a:rPr>
              <a:t>   git commit -m "Website launch"</a:t>
            </a:r>
          </a:p>
          <a:p>
            <a:pPr marL="0" indent="0">
              <a:buNone/>
            </a:pPr>
            <a:r>
              <a:rPr lang="en-US" sz="1800" b="1" i="1" dirty="0">
                <a:latin typeface="Times New Roman" panose="02020603050405020304" pitchFamily="18" charset="0"/>
                <a:cs typeface="Times New Roman" panose="02020603050405020304" pitchFamily="18" charset="0"/>
              </a:rPr>
              <a:t>   git push origin main</a:t>
            </a:r>
          </a:p>
          <a:p>
            <a:pPr marL="0" indent="0">
              <a:buNone/>
            </a:pPr>
            <a:r>
              <a:rPr lang="en-US" b="1" dirty="0"/>
              <a:t>2</a:t>
            </a:r>
            <a:r>
              <a:rPr lang="en-US" sz="1800" b="1" dirty="0"/>
              <a:t>. Enable GitHub Pages in repo settings</a:t>
            </a:r>
            <a:r>
              <a:rPr lang="en-US" sz="1800" dirty="0"/>
              <a:t> </a:t>
            </a:r>
          </a:p>
          <a:p>
            <a:pPr marL="0" indent="0">
              <a:buNone/>
            </a:pPr>
            <a:r>
              <a:rPr lang="en-US" sz="1800" dirty="0"/>
              <a:t>	Settings → Pages</a:t>
            </a:r>
          </a:p>
          <a:p>
            <a:pPr marL="457200" lvl="1" indent="0">
              <a:buNone/>
            </a:pPr>
            <a:r>
              <a:rPr lang="en-US" sz="1800" dirty="0"/>
              <a:t>          Branch: main</a:t>
            </a:r>
          </a:p>
          <a:p>
            <a:pPr marL="0" indent="0">
              <a:buNone/>
            </a:pPr>
            <a:r>
              <a:rPr lang="en-US" sz="1800" dirty="0"/>
              <a:t>                    Save</a:t>
            </a:r>
          </a:p>
          <a:p>
            <a:pPr marL="0" indent="0">
              <a:buNone/>
            </a:pPr>
            <a:endParaRPr lang="en-US" dirty="0"/>
          </a:p>
          <a:p>
            <a:endParaRPr lang="en-US" dirty="0"/>
          </a:p>
        </p:txBody>
      </p:sp>
    </p:spTree>
    <p:extLst>
      <p:ext uri="{BB962C8B-B14F-4D97-AF65-F5344CB8AC3E}">
        <p14:creationId xmlns:p14="http://schemas.microsoft.com/office/powerpoint/2010/main" val="45074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83A6-1413-634A-0628-228373F566A8}"/>
              </a:ext>
            </a:extLst>
          </p:cNvPr>
          <p:cNvSpPr>
            <a:spLocks noGrp="1"/>
          </p:cNvSpPr>
          <p:nvPr>
            <p:ph type="title"/>
          </p:nvPr>
        </p:nvSpPr>
        <p:spPr>
          <a:xfrm>
            <a:off x="838200" y="365125"/>
            <a:ext cx="10515600" cy="869315"/>
          </a:xfrm>
        </p:spPr>
        <p:txBody>
          <a:bodyPr>
            <a:normAutofit/>
          </a:bodyPr>
          <a:lstStyle/>
          <a:p>
            <a:pPr algn="ctr"/>
            <a:r>
              <a:rPr lang="en-US" sz="2400" dirty="0">
                <a:latin typeface="Arial Black" panose="020B0A04020102020204" pitchFamily="34" charset="0"/>
              </a:rPr>
              <a:t>Point GoDaddy domain to GitHub</a:t>
            </a:r>
            <a:endParaRPr lang="en-US" sz="2400" dirty="0"/>
          </a:p>
        </p:txBody>
      </p:sp>
      <p:sp>
        <p:nvSpPr>
          <p:cNvPr id="3" name="Content Placeholder 2">
            <a:extLst>
              <a:ext uri="{FF2B5EF4-FFF2-40B4-BE49-F238E27FC236}">
                <a16:creationId xmlns:a16="http://schemas.microsoft.com/office/drawing/2014/main" id="{5C4C3115-98A9-F5BE-B5DD-8A8547520245}"/>
              </a:ext>
            </a:extLst>
          </p:cNvPr>
          <p:cNvSpPr>
            <a:spLocks noGrp="1"/>
          </p:cNvSpPr>
          <p:nvPr>
            <p:ph idx="1"/>
          </p:nvPr>
        </p:nvSpPr>
        <p:spPr>
          <a:xfrm>
            <a:off x="838200" y="1234440"/>
            <a:ext cx="10515600" cy="4942523"/>
          </a:xfrm>
        </p:spPr>
        <p:txBody>
          <a:bodyPr>
            <a:normAutofit fontScale="85000" lnSpcReduction="20000"/>
          </a:bodyPr>
          <a:lstStyle/>
          <a:p>
            <a:pPr marL="457200" lvl="1" indent="0">
              <a:buNone/>
            </a:pPr>
            <a:r>
              <a:rPr lang="en-US" dirty="0"/>
              <a:t>GoDaddy DNS settings </a:t>
            </a:r>
          </a:p>
          <a:p>
            <a:pPr marL="457200" lvl="1" indent="0">
              <a:buNone/>
            </a:pPr>
            <a:r>
              <a:rPr lang="en-US" dirty="0"/>
              <a:t>Add GitHub's nameservers </a:t>
            </a:r>
          </a:p>
          <a:p>
            <a:pPr marL="457200" lvl="1" indent="0">
              <a:buNone/>
            </a:pPr>
            <a:r>
              <a:rPr lang="en-US" dirty="0"/>
              <a:t>24 hours to propagate </a:t>
            </a:r>
          </a:p>
          <a:p>
            <a:pPr marL="457200" lvl="1" indent="0">
              <a:buNone/>
            </a:pPr>
            <a:r>
              <a:rPr lang="en-US" dirty="0"/>
              <a:t>LIVE! 🚀</a:t>
            </a:r>
          </a:p>
          <a:p>
            <a:r>
              <a:rPr lang="en-US" dirty="0"/>
              <a:t>Cost: $0 (you already paid for domain)</a:t>
            </a:r>
          </a:p>
          <a:p>
            <a:r>
              <a:rPr lang="en-US" b="1" dirty="0"/>
              <a:t>OPTION B - EASIER (Netlify):</a:t>
            </a:r>
            <a:endParaRPr lang="en-US" dirty="0"/>
          </a:p>
          <a:p>
            <a:r>
              <a:rPr lang="en-US" b="1" dirty="0"/>
              <a:t>Connect GitHub to Netlify</a:t>
            </a:r>
            <a:r>
              <a:rPr lang="en-US" dirty="0"/>
              <a:t> </a:t>
            </a:r>
          </a:p>
          <a:p>
            <a:pPr lvl="1"/>
            <a:r>
              <a:rPr lang="en-US" dirty="0"/>
              <a:t>netlify.com → Sign up</a:t>
            </a:r>
          </a:p>
          <a:p>
            <a:pPr lvl="1"/>
            <a:r>
              <a:rPr lang="en-US" dirty="0"/>
              <a:t>Connect your repo</a:t>
            </a:r>
          </a:p>
          <a:p>
            <a:pPr lvl="1"/>
            <a:r>
              <a:rPr lang="en-US" dirty="0"/>
              <a:t>Auto-deploys!</a:t>
            </a:r>
          </a:p>
          <a:p>
            <a:r>
              <a:rPr lang="en-US" b="1" dirty="0"/>
              <a:t>Point GoDaddy to Netlify</a:t>
            </a:r>
            <a:r>
              <a:rPr lang="en-US" dirty="0"/>
              <a:t> </a:t>
            </a:r>
          </a:p>
          <a:p>
            <a:pPr lvl="1"/>
            <a:r>
              <a:rPr lang="en-US" dirty="0"/>
              <a:t>GoDaddy DNS settings</a:t>
            </a:r>
          </a:p>
          <a:p>
            <a:pPr lvl="1"/>
            <a:r>
              <a:rPr lang="en-US" dirty="0"/>
              <a:t>Add Netlify nameservers</a:t>
            </a:r>
          </a:p>
          <a:p>
            <a:pPr lvl="1"/>
            <a:r>
              <a:rPr lang="en-US" dirty="0"/>
              <a:t>LIVE! 🚀</a:t>
            </a:r>
          </a:p>
          <a:p>
            <a:r>
              <a:rPr lang="en-US" b="1" dirty="0"/>
              <a:t>Cost: $0 (you already paid for domain)</a:t>
            </a:r>
            <a:endParaRPr lang="en-US" dirty="0"/>
          </a:p>
          <a:p>
            <a:pPr marL="0" indent="0">
              <a:buNone/>
            </a:pPr>
            <a:endParaRPr lang="en-US" dirty="0"/>
          </a:p>
          <a:p>
            <a:endParaRPr lang="en-US" dirty="0"/>
          </a:p>
        </p:txBody>
      </p:sp>
    </p:spTree>
    <p:extLst>
      <p:ext uri="{BB962C8B-B14F-4D97-AF65-F5344CB8AC3E}">
        <p14:creationId xmlns:p14="http://schemas.microsoft.com/office/powerpoint/2010/main" val="1510761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11501D-C46A-AC4A-2710-1BCE025D9978}"/>
              </a:ext>
            </a:extLst>
          </p:cNvPr>
          <p:cNvSpPr>
            <a:spLocks noGrp="1"/>
          </p:cNvSpPr>
          <p:nvPr>
            <p:ph idx="1"/>
          </p:nvPr>
        </p:nvSpPr>
        <p:spPr/>
        <p:txBody>
          <a:bodyPr>
            <a:normAutofit fontScale="77500" lnSpcReduction="20000"/>
          </a:bodyPr>
          <a:lstStyle/>
          <a:p>
            <a:r>
              <a:rPr lang="en-US" b="1" dirty="0"/>
              <a:t>MY RECOMMENDATION:</a:t>
            </a:r>
            <a:endParaRPr lang="en-US" dirty="0"/>
          </a:p>
          <a:p>
            <a:r>
              <a:rPr lang="en-US" b="1" dirty="0"/>
              <a:t>Use GitHub Pages!</a:t>
            </a:r>
            <a:r>
              <a:rPr lang="en-US" dirty="0"/>
              <a:t> (easiest)</a:t>
            </a:r>
          </a:p>
          <a:p>
            <a:r>
              <a:rPr lang="en-US" b="1" dirty="0"/>
              <a:t>DO THIS NOW:</a:t>
            </a:r>
            <a:endParaRPr lang="en-US" dirty="0"/>
          </a:p>
          <a:p>
            <a:r>
              <a:rPr lang="en-US" b="1" dirty="0"/>
              <a:t>Have you pushed your website to GitHub?</a:t>
            </a:r>
            <a:endParaRPr lang="en-US" dirty="0"/>
          </a:p>
          <a:p>
            <a:r>
              <a:rPr lang="en-US" b="1" dirty="0"/>
              <a:t>Which hosting do you prefer?</a:t>
            </a:r>
            <a:endParaRPr lang="en-US" dirty="0"/>
          </a:p>
          <a:p>
            <a:r>
              <a:rPr lang="en-US" b="1" dirty="0"/>
              <a:t>Then we LAUNCH and EMAIL COMPANIES!</a:t>
            </a:r>
            <a:r>
              <a:rPr lang="en-US" dirty="0"/>
              <a:t> 🚀</a:t>
            </a:r>
          </a:p>
          <a:p>
            <a:r>
              <a:rPr lang="en-US" b="1" dirty="0"/>
              <a:t>YOU'RE 24 HOURS AWAY FROM GOING LIVE!</a:t>
            </a:r>
            <a:r>
              <a:rPr lang="en-US" dirty="0"/>
              <a:t> </a:t>
            </a:r>
          </a:p>
          <a:p>
            <a:r>
              <a:rPr lang="en-US" b="1" dirty="0"/>
              <a:t>REALITY CHECK:</a:t>
            </a:r>
            <a:endParaRPr lang="en-US" dirty="0"/>
          </a:p>
          <a:p>
            <a:r>
              <a:rPr lang="en-US" dirty="0"/>
              <a:t>You need:</a:t>
            </a:r>
          </a:p>
          <a:p>
            <a:r>
              <a:rPr lang="en-US" dirty="0"/>
              <a:t>❌ Perfect website (takes forever!)</a:t>
            </a:r>
          </a:p>
          <a:p>
            <a:r>
              <a:rPr lang="en-US" dirty="0"/>
              <a:t>✅ LAUNCH-READY website (good enough!)</a:t>
            </a:r>
          </a:p>
          <a:p>
            <a:r>
              <a:rPr lang="en-US" dirty="0"/>
              <a:t>MINIMUM TO LAUNCH &amp; GET CUSTOMERS: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62151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DB548F-F606-AE4A-B22F-3F3AB09260B0}"/>
              </a:ext>
            </a:extLst>
          </p:cNvPr>
          <p:cNvSpPr>
            <a:spLocks noGrp="1"/>
          </p:cNvSpPr>
          <p:nvPr>
            <p:ph idx="1"/>
          </p:nvPr>
        </p:nvSpPr>
        <p:spPr>
          <a:xfrm>
            <a:off x="838200" y="398417"/>
            <a:ext cx="10515600" cy="5778546"/>
          </a:xfrm>
        </p:spPr>
        <p:txBody>
          <a:bodyPr>
            <a:normAutofit lnSpcReduction="10000"/>
          </a:bodyPr>
          <a:lstStyle/>
          <a:p>
            <a:r>
              <a:rPr lang="en-US" sz="1900" dirty="0"/>
              <a:t>✅ Home page (description of NeuronCopilot)</a:t>
            </a:r>
          </a:p>
          <a:p>
            <a:r>
              <a:rPr lang="en-US" sz="1900" dirty="0"/>
              <a:t>✅ NeuronCopilot Project page</a:t>
            </a:r>
          </a:p>
          <a:p>
            <a:r>
              <a:rPr lang="en-US" sz="1900" dirty="0"/>
              <a:t>   - YouTube embedded</a:t>
            </a:r>
          </a:p>
          <a:p>
            <a:r>
              <a:rPr lang="en-US" sz="1900" dirty="0"/>
              <a:t>   - GitHub link</a:t>
            </a:r>
          </a:p>
          <a:p>
            <a:r>
              <a:rPr lang="en-US" sz="1900" dirty="0"/>
              <a:t>   - Description</a:t>
            </a:r>
          </a:p>
          <a:p>
            <a:r>
              <a:rPr lang="en-US" sz="1900" dirty="0"/>
              <a:t>   - Features</a:t>
            </a:r>
          </a:p>
          <a:p>
            <a:r>
              <a:rPr lang="en-US" sz="1900" dirty="0"/>
              <a:t>✅ Contact page (for inquiries!)</a:t>
            </a:r>
          </a:p>
          <a:p>
            <a:r>
              <a:rPr lang="en-US" sz="1900" b="1" dirty="0"/>
              <a:t>Nice-to-have (can add later):</a:t>
            </a:r>
            <a:endParaRPr lang="en-US" sz="1900" dirty="0"/>
          </a:p>
          <a:p>
            <a:r>
              <a:rPr lang="en-US" sz="1900" dirty="0"/>
              <a:t>✅ Logo</a:t>
            </a:r>
          </a:p>
          <a:p>
            <a:r>
              <a:rPr lang="en-US" sz="1900" dirty="0"/>
              <a:t>✅ home</a:t>
            </a:r>
          </a:p>
          <a:p>
            <a:r>
              <a:rPr lang="en-US" sz="1900" dirty="0"/>
              <a:t>✅Contact </a:t>
            </a:r>
          </a:p>
          <a:p>
            <a:r>
              <a:rPr lang="en-US" sz="1900" dirty="0"/>
              <a:t>✅  "News" section</a:t>
            </a:r>
          </a:p>
          <a:p>
            <a:r>
              <a:rPr lang="en-US" sz="1900" dirty="0"/>
              <a:t>✅ "Partners" Section</a:t>
            </a:r>
          </a:p>
          <a:p>
            <a:r>
              <a:rPr lang="en-US" sz="2000" dirty="0"/>
              <a:t>✅Neural Network</a:t>
            </a:r>
          </a:p>
          <a:p>
            <a:r>
              <a:rPr lang="en-US" sz="2000" dirty="0"/>
              <a:t>✅</a:t>
            </a:r>
            <a:r>
              <a:rPr lang="en-US" sz="2000" dirty="0" err="1"/>
              <a:t>SoilScience</a:t>
            </a:r>
            <a:endParaRPr lang="en-US" sz="1900" dirty="0"/>
          </a:p>
          <a:p>
            <a:pPr marL="0" indent="0">
              <a:buNone/>
            </a:pPr>
            <a:endParaRPr lang="en-US" dirty="0"/>
          </a:p>
          <a:p>
            <a:endParaRPr lang="en-US" dirty="0"/>
          </a:p>
        </p:txBody>
      </p:sp>
    </p:spTree>
    <p:extLst>
      <p:ext uri="{BB962C8B-B14F-4D97-AF65-F5344CB8AC3E}">
        <p14:creationId xmlns:p14="http://schemas.microsoft.com/office/powerpoint/2010/main" val="1695423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84E15-E32F-F528-D4E3-B8CD95709B68}"/>
              </a:ext>
            </a:extLst>
          </p:cNvPr>
          <p:cNvSpPr>
            <a:spLocks noGrp="1"/>
          </p:cNvSpPr>
          <p:nvPr>
            <p:ph idx="1"/>
          </p:nvPr>
        </p:nvSpPr>
        <p:spPr>
          <a:xfrm>
            <a:off x="838200" y="666206"/>
            <a:ext cx="10515600" cy="5510757"/>
          </a:xfrm>
        </p:spPr>
        <p:txBody>
          <a:bodyPr>
            <a:normAutofit fontScale="62500" lnSpcReduction="20000"/>
          </a:bodyPr>
          <a:lstStyle/>
          <a:p>
            <a:pPr marL="0" indent="0">
              <a:buNone/>
            </a:pPr>
            <a:r>
              <a:rPr lang="en-US" dirty="0"/>
              <a:t>My website :NeuronCopilot.html as "index.html has been completed with the following features:</a:t>
            </a:r>
          </a:p>
          <a:p>
            <a:pPr marL="0" indent="0">
              <a:buNone/>
            </a:pPr>
            <a:r>
              <a:rPr lang="en-US" dirty="0"/>
              <a:t>Home page (description of NeuronCopilot)</a:t>
            </a:r>
          </a:p>
          <a:p>
            <a:pPr marL="0" indent="0">
              <a:buNone/>
            </a:pPr>
            <a:r>
              <a:rPr lang="en-US" dirty="0"/>
              <a:t>✅ NeuronCopilot Project page</a:t>
            </a:r>
          </a:p>
          <a:p>
            <a:pPr marL="0" indent="0">
              <a:buNone/>
            </a:pPr>
            <a:r>
              <a:rPr lang="en-US" dirty="0"/>
              <a:t>   - YouTube embedded</a:t>
            </a:r>
          </a:p>
          <a:p>
            <a:pPr marL="0" indent="0">
              <a:buNone/>
            </a:pPr>
            <a:r>
              <a:rPr lang="en-US" dirty="0"/>
              <a:t>   - GitHub link</a:t>
            </a:r>
          </a:p>
          <a:p>
            <a:pPr marL="0" indent="0">
              <a:buNone/>
            </a:pPr>
            <a:r>
              <a:rPr lang="en-US" dirty="0"/>
              <a:t>   - Description</a:t>
            </a:r>
          </a:p>
          <a:p>
            <a:pPr marL="0" indent="0">
              <a:buNone/>
            </a:pPr>
            <a:r>
              <a:rPr lang="en-US" dirty="0"/>
              <a:t>   - Features</a:t>
            </a:r>
          </a:p>
          <a:p>
            <a:pPr marL="0" indent="0">
              <a:buNone/>
            </a:pPr>
            <a:r>
              <a:rPr lang="en-US" dirty="0"/>
              <a:t>✅ Contact page (for inquiries!)</a:t>
            </a:r>
          </a:p>
          <a:p>
            <a:pPr marL="0" indent="0">
              <a:buNone/>
            </a:pPr>
            <a:r>
              <a:rPr lang="en-US" dirty="0"/>
              <a:t>Nice-to-have (can add later):</a:t>
            </a:r>
          </a:p>
          <a:p>
            <a:pPr marL="0" indent="0">
              <a:buNone/>
            </a:pPr>
            <a:r>
              <a:rPr lang="en-US" dirty="0"/>
              <a:t>✅ Logo</a:t>
            </a:r>
          </a:p>
          <a:p>
            <a:pPr marL="0" indent="0">
              <a:buNone/>
            </a:pPr>
            <a:r>
              <a:rPr lang="en-US" dirty="0"/>
              <a:t>✅ home</a:t>
            </a:r>
          </a:p>
          <a:p>
            <a:pPr marL="0" indent="0">
              <a:buNone/>
            </a:pPr>
            <a:r>
              <a:rPr lang="en-US" dirty="0"/>
              <a:t>✅Contact </a:t>
            </a:r>
          </a:p>
          <a:p>
            <a:pPr marL="0" indent="0">
              <a:buNone/>
            </a:pPr>
            <a:r>
              <a:rPr lang="en-US" dirty="0"/>
              <a:t>✅  "News" section</a:t>
            </a:r>
          </a:p>
          <a:p>
            <a:pPr marL="0" indent="0">
              <a:buNone/>
            </a:pPr>
            <a:r>
              <a:rPr lang="en-US" dirty="0"/>
              <a:t>✅ "Partners" Section</a:t>
            </a:r>
          </a:p>
          <a:p>
            <a:pPr marL="0" indent="0">
              <a:buNone/>
            </a:pPr>
            <a:r>
              <a:rPr lang="en-US" dirty="0"/>
              <a:t>✅Neural Network</a:t>
            </a:r>
          </a:p>
          <a:p>
            <a:pPr marL="0" indent="0">
              <a:buNone/>
            </a:pPr>
            <a:r>
              <a:rPr lang="en-US" dirty="0"/>
              <a:t>✅</a:t>
            </a:r>
            <a:r>
              <a:rPr lang="en-US" dirty="0" err="1"/>
              <a:t>SoilScience</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579938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E6FDEC-BC0C-AA52-1D42-9ED4E0530997}"/>
              </a:ext>
            </a:extLst>
          </p:cNvPr>
          <p:cNvSpPr>
            <a:spLocks noGrp="1"/>
          </p:cNvSpPr>
          <p:nvPr>
            <p:ph idx="1"/>
          </p:nvPr>
        </p:nvSpPr>
        <p:spPr>
          <a:xfrm>
            <a:off x="838200" y="404949"/>
            <a:ext cx="10515600" cy="5772014"/>
          </a:xfrm>
        </p:spPr>
        <p:txBody>
          <a:bodyPr>
            <a:normAutofit fontScale="70000" lnSpcReduction="20000"/>
          </a:bodyPr>
          <a:lstStyle/>
          <a:p>
            <a:pPr marL="0" indent="0">
              <a:buNone/>
            </a:pPr>
            <a:r>
              <a:rPr lang="en-US" dirty="0"/>
              <a:t>NEXT STEPS - LAUNCH YOUR WEBSITE:</a:t>
            </a:r>
          </a:p>
          <a:p>
            <a:pPr marL="0" indent="0">
              <a:buNone/>
            </a:pPr>
            <a:r>
              <a:rPr lang="en-US" dirty="0"/>
              <a:t>OPTION A - FREE (GitHub Pages):</a:t>
            </a:r>
          </a:p>
          <a:p>
            <a:pPr marL="0" indent="0">
              <a:buNone/>
            </a:pPr>
            <a:r>
              <a:rPr lang="en-US" dirty="0"/>
              <a:t>1. Upload website to GitHub</a:t>
            </a:r>
          </a:p>
          <a:p>
            <a:pPr marL="0" indent="0">
              <a:buNone/>
            </a:pPr>
            <a:r>
              <a:rPr lang="en-US" dirty="0"/>
              <a:t>git init</a:t>
            </a:r>
          </a:p>
          <a:p>
            <a:pPr marL="0" indent="0">
              <a:buNone/>
            </a:pPr>
            <a:r>
              <a:rPr lang="en-US" dirty="0"/>
              <a:t>   git add .</a:t>
            </a:r>
          </a:p>
          <a:p>
            <a:pPr marL="0" indent="0">
              <a:buNone/>
            </a:pPr>
            <a:r>
              <a:rPr lang="en-US" dirty="0"/>
              <a:t>   git commit -m "Website launch"</a:t>
            </a:r>
          </a:p>
          <a:p>
            <a:pPr marL="0" indent="0">
              <a:buNone/>
            </a:pPr>
            <a:r>
              <a:rPr lang="en-US" dirty="0"/>
              <a:t>   git push origin main</a:t>
            </a:r>
          </a:p>
          <a:p>
            <a:pPr marL="0" indent="0">
              <a:buNone/>
            </a:pPr>
            <a:r>
              <a:rPr lang="en-US" dirty="0"/>
              <a:t>2. Enable GitHub Pages in repo settings </a:t>
            </a:r>
          </a:p>
          <a:p>
            <a:pPr marL="0" indent="0">
              <a:buNone/>
            </a:pPr>
            <a:r>
              <a:rPr lang="en-US" dirty="0"/>
              <a:t>	Settings → Pages</a:t>
            </a:r>
          </a:p>
          <a:p>
            <a:pPr marL="0" indent="0">
              <a:buNone/>
            </a:pPr>
            <a:r>
              <a:rPr lang="en-US" dirty="0"/>
              <a:t>          Branch: main</a:t>
            </a:r>
          </a:p>
          <a:p>
            <a:pPr marL="0" indent="0">
              <a:buNone/>
            </a:pPr>
            <a:r>
              <a:rPr lang="en-US" dirty="0"/>
              <a:t>          Save</a:t>
            </a:r>
          </a:p>
          <a:p>
            <a:pPr marL="0" indent="0">
              <a:buNone/>
            </a:pPr>
            <a:r>
              <a:rPr lang="en-US" dirty="0"/>
              <a:t>Point GoDaddy domain to GitHub</a:t>
            </a:r>
          </a:p>
          <a:p>
            <a:pPr marL="0" indent="0">
              <a:buNone/>
            </a:pPr>
            <a:r>
              <a:rPr lang="en-US" dirty="0"/>
              <a:t>GoDaddy DNS settings </a:t>
            </a:r>
          </a:p>
          <a:p>
            <a:pPr marL="0" indent="0">
              <a:buNone/>
            </a:pPr>
            <a:r>
              <a:rPr lang="en-US" dirty="0"/>
              <a:t>Add GitHub's nameservers </a:t>
            </a:r>
          </a:p>
          <a:p>
            <a:pPr marL="0" indent="0">
              <a:buNone/>
            </a:pPr>
            <a:r>
              <a:rPr lang="en-US" dirty="0"/>
              <a:t>24 hours to propagate </a:t>
            </a:r>
          </a:p>
          <a:p>
            <a:pPr marL="0" indent="0">
              <a:buNone/>
            </a:pPr>
            <a:r>
              <a:rPr lang="en-US" dirty="0"/>
              <a:t> </a:t>
            </a:r>
          </a:p>
          <a:p>
            <a:pPr marL="0" indent="0">
              <a:buNone/>
            </a:pPr>
            <a:r>
              <a:rPr lang="en-US" dirty="0"/>
              <a:t>I need to check that everything is ready to publish? Should I post my real phone number?</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874772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31A6B0-D0F3-5CB2-E4B6-80BB5363B3D2}"/>
              </a:ext>
            </a:extLst>
          </p:cNvPr>
          <p:cNvSpPr>
            <a:spLocks noGrp="1"/>
          </p:cNvSpPr>
          <p:nvPr>
            <p:ph idx="1"/>
          </p:nvPr>
        </p:nvSpPr>
        <p:spPr>
          <a:xfrm>
            <a:off x="838200" y="365760"/>
            <a:ext cx="10515600" cy="5811203"/>
          </a:xfrm>
        </p:spPr>
        <p:txBody>
          <a:bodyPr>
            <a:normAutofit/>
          </a:bodyPr>
          <a:lstStyle/>
          <a:p>
            <a:pPr marL="0" indent="0">
              <a:buNone/>
            </a:pPr>
            <a:r>
              <a:rPr lang="en-US" sz="1800" dirty="0"/>
              <a:t>FINAL CHECKLIST BEFORE PUBLISHING:</a:t>
            </a:r>
          </a:p>
          <a:p>
            <a:pPr marL="0" indent="0">
              <a:buNone/>
            </a:pPr>
            <a:r>
              <a:rPr lang="en-US" dirty="0"/>
              <a:t>✅ </a:t>
            </a:r>
            <a:r>
              <a:rPr lang="en-US" sz="1800" dirty="0"/>
              <a:t>index.html complete</a:t>
            </a:r>
          </a:p>
          <a:p>
            <a:pPr marL="0" indent="0">
              <a:buNone/>
            </a:pPr>
            <a:r>
              <a:rPr lang="en-US" sz="1800" dirty="0"/>
              <a:t>✅ Logo added</a:t>
            </a:r>
          </a:p>
          <a:p>
            <a:pPr marL="0" indent="0">
              <a:buNone/>
            </a:pPr>
            <a:r>
              <a:rPr lang="en-US" sz="1800" dirty="0"/>
              <a:t>✅ Home page (description)</a:t>
            </a:r>
          </a:p>
          <a:p>
            <a:pPr marL="0" indent="0">
              <a:buNone/>
            </a:pPr>
            <a:r>
              <a:rPr lang="en-US" sz="1800" dirty="0"/>
              <a:t>✅ NeuronCopilot project page</a:t>
            </a:r>
          </a:p>
          <a:p>
            <a:pPr marL="0" indent="0">
              <a:buNone/>
            </a:pPr>
            <a:r>
              <a:rPr lang="en-US" sz="1800" dirty="0"/>
              <a:t>✅ YouTube embedded</a:t>
            </a:r>
          </a:p>
          <a:p>
            <a:pPr marL="0" indent="0">
              <a:buNone/>
            </a:pPr>
            <a:r>
              <a:rPr lang="en-US" sz="1800" dirty="0"/>
              <a:t>✅ GitHub link working</a:t>
            </a:r>
          </a:p>
          <a:p>
            <a:pPr marL="0" indent="0">
              <a:buNone/>
            </a:pPr>
            <a:r>
              <a:rPr lang="en-US" sz="1800" dirty="0"/>
              <a:t>✅ Contact page created</a:t>
            </a:r>
          </a:p>
          <a:p>
            <a:pPr marL="0" indent="0">
              <a:buNone/>
            </a:pPr>
            <a:r>
              <a:rPr lang="en-US" sz="1800" dirty="0"/>
              <a:t>✅ News section</a:t>
            </a:r>
          </a:p>
          <a:p>
            <a:pPr marL="0" indent="0">
              <a:buNone/>
            </a:pPr>
            <a:r>
              <a:rPr lang="en-US" sz="1800" dirty="0"/>
              <a:t>✅ Partners section</a:t>
            </a:r>
          </a:p>
          <a:p>
            <a:pPr marL="0" indent="0">
              <a:buNone/>
            </a:pPr>
            <a:r>
              <a:rPr lang="en-US" sz="1800" dirty="0"/>
              <a:t>✅ Neural Network links</a:t>
            </a:r>
          </a:p>
          <a:p>
            <a:pPr marL="0" indent="0">
              <a:buNone/>
            </a:pPr>
            <a:r>
              <a:rPr lang="en-US" sz="1800" dirty="0"/>
              <a:t>✅ Soil Science links</a:t>
            </a:r>
          </a:p>
        </p:txBody>
      </p:sp>
    </p:spTree>
    <p:extLst>
      <p:ext uri="{BB962C8B-B14F-4D97-AF65-F5344CB8AC3E}">
        <p14:creationId xmlns:p14="http://schemas.microsoft.com/office/powerpoint/2010/main" val="3544549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30FF5D-4ACB-1BD8-1141-43D34AA2D772}"/>
              </a:ext>
            </a:extLst>
          </p:cNvPr>
          <p:cNvSpPr>
            <a:spLocks noGrp="1"/>
          </p:cNvSpPr>
          <p:nvPr>
            <p:ph idx="1"/>
          </p:nvPr>
        </p:nvSpPr>
        <p:spPr>
          <a:xfrm>
            <a:off x="838200" y="287383"/>
            <a:ext cx="10515600" cy="5889580"/>
          </a:xfrm>
        </p:spPr>
        <p:txBody>
          <a:bodyPr>
            <a:normAutofit/>
          </a:bodyPr>
          <a:lstStyle/>
          <a:p>
            <a:pPr marL="0" indent="0">
              <a:buNone/>
            </a:pPr>
            <a:r>
              <a:rPr lang="en-US" sz="1800" b="1" dirty="0"/>
              <a:t>YOU'RE READY!</a:t>
            </a:r>
            <a:r>
              <a:rPr lang="en-US" sz="1800" dirty="0"/>
              <a:t> 💯</a:t>
            </a:r>
          </a:p>
          <a:p>
            <a:r>
              <a:rPr lang="en-US" sz="1800" b="1" dirty="0"/>
              <a:t>CRITICAL - DON'T POST REAL PHONE NUMBER!</a:t>
            </a:r>
            <a:r>
              <a:rPr lang="en-US" sz="1800" dirty="0"/>
              <a:t> 🛑</a:t>
            </a:r>
          </a:p>
          <a:p>
            <a:r>
              <a:rPr lang="en-US" sz="1800" b="1" dirty="0"/>
              <a:t>Use contact FORM instead:</a:t>
            </a:r>
            <a:endParaRPr lang="en-US" sz="1800" dirty="0"/>
          </a:p>
          <a:p>
            <a:r>
              <a:rPr lang="en-US" sz="1800" b="1" dirty="0"/>
              <a:t>Options:</a:t>
            </a:r>
            <a:endParaRPr lang="en-US" sz="1800" dirty="0"/>
          </a:p>
          <a:p>
            <a:r>
              <a:rPr lang="en-US" sz="1800" b="1" dirty="0"/>
              <a:t>Option 1 - Email only (BEST):</a:t>
            </a:r>
            <a:endParaRPr lang="en-US" sz="1800" dirty="0"/>
          </a:p>
          <a:p>
            <a:pPr marL="0" indent="0">
              <a:buNone/>
            </a:pPr>
            <a:r>
              <a:rPr lang="en-US" sz="1800" dirty="0"/>
              <a:t>&lt;a </a:t>
            </a:r>
            <a:r>
              <a:rPr lang="en-US" sz="1800" dirty="0" err="1"/>
              <a:t>href</a:t>
            </a:r>
            <a:r>
              <a:rPr lang="en-US" sz="1800" dirty="0"/>
              <a:t>="mailto:kurban@neuronmachinellc.com"&gt;</a:t>
            </a:r>
          </a:p>
          <a:p>
            <a:pPr marL="0" indent="0">
              <a:buNone/>
            </a:pPr>
            <a:r>
              <a:rPr lang="en-US" sz="1800" dirty="0"/>
              <a:t>  Contact Us</a:t>
            </a:r>
          </a:p>
          <a:p>
            <a:pPr marL="0" indent="0">
              <a:buNone/>
            </a:pPr>
            <a:r>
              <a:rPr lang="en-US" sz="1800" dirty="0"/>
              <a:t>&lt;/a&gt;</a:t>
            </a:r>
          </a:p>
          <a:p>
            <a:r>
              <a:rPr lang="en-US" sz="1800" b="1" dirty="0"/>
              <a:t>Option 2 - Contact form (</a:t>
            </a:r>
            <a:r>
              <a:rPr lang="en-US" sz="1800" b="1" dirty="0" err="1"/>
              <a:t>Formspree</a:t>
            </a:r>
            <a:r>
              <a:rPr lang="en-US" sz="1800" b="1" dirty="0"/>
              <a:t> - FREE):</a:t>
            </a:r>
            <a:endParaRPr lang="en-US" sz="1800" dirty="0"/>
          </a:p>
          <a:p>
            <a:r>
              <a:rPr lang="en-US" sz="1800" dirty="0"/>
              <a:t>html</a:t>
            </a:r>
          </a:p>
          <a:p>
            <a:pPr marL="0" indent="0">
              <a:buNone/>
            </a:pPr>
            <a:r>
              <a:rPr lang="en-US" sz="1800" dirty="0"/>
              <a:t>&lt;form action="https://formspree.io/f/YOUR_ID" method="POST"&gt;</a:t>
            </a:r>
          </a:p>
          <a:p>
            <a:pPr marL="0" indent="0">
              <a:buNone/>
            </a:pPr>
            <a:r>
              <a:rPr lang="en-US" sz="1800" dirty="0"/>
              <a:t>  &lt;input type="email" name="email" placeholder="Your email"&gt;</a:t>
            </a:r>
          </a:p>
          <a:p>
            <a:pPr marL="0" indent="0">
              <a:buNone/>
            </a:pPr>
            <a:r>
              <a:rPr lang="en-US" sz="1800" dirty="0"/>
              <a:t>  &lt;</a:t>
            </a:r>
            <a:r>
              <a:rPr lang="en-US" sz="1800" dirty="0" err="1"/>
              <a:t>textarea</a:t>
            </a:r>
            <a:r>
              <a:rPr lang="en-US" sz="1800" dirty="0"/>
              <a:t> name="message" placeholder="Your message"&gt;&lt;/</a:t>
            </a:r>
            <a:r>
              <a:rPr lang="en-US" sz="1800" dirty="0" err="1"/>
              <a:t>textarea</a:t>
            </a:r>
            <a:r>
              <a:rPr lang="en-US" sz="1800" dirty="0"/>
              <a:t>&gt;</a:t>
            </a:r>
          </a:p>
          <a:p>
            <a:pPr marL="0" indent="0">
              <a:buNone/>
            </a:pPr>
            <a:r>
              <a:rPr lang="en-US" sz="1800" dirty="0"/>
              <a:t>  &lt;button type="submit"&gt;Send&lt;/button&gt;</a:t>
            </a:r>
          </a:p>
          <a:p>
            <a:pPr marL="0" indent="0">
              <a:buNone/>
            </a:pPr>
            <a:r>
              <a:rPr lang="en-US" sz="1800" dirty="0"/>
              <a:t>&lt;/form&gt;</a:t>
            </a:r>
          </a:p>
        </p:txBody>
      </p:sp>
    </p:spTree>
    <p:extLst>
      <p:ext uri="{BB962C8B-B14F-4D97-AF65-F5344CB8AC3E}">
        <p14:creationId xmlns:p14="http://schemas.microsoft.com/office/powerpoint/2010/main" val="790250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431B-9666-7F58-516C-58889D0C138F}"/>
              </a:ext>
            </a:extLst>
          </p:cNvPr>
          <p:cNvSpPr>
            <a:spLocks noGrp="1"/>
          </p:cNvSpPr>
          <p:nvPr>
            <p:ph type="title"/>
          </p:nvPr>
        </p:nvSpPr>
        <p:spPr>
          <a:xfrm>
            <a:off x="838200" y="365125"/>
            <a:ext cx="10515600" cy="392521"/>
          </a:xfrm>
        </p:spPr>
        <p:txBody>
          <a:bodyPr>
            <a:normAutofit fontScale="90000"/>
          </a:bodyPr>
          <a:lstStyle/>
          <a:p>
            <a:pPr algn="ctr"/>
            <a:r>
              <a:rPr lang="en-US" sz="2400" dirty="0"/>
              <a:t>LAUNCH STEPS (DO NOW):</a:t>
            </a:r>
          </a:p>
        </p:txBody>
      </p:sp>
      <p:sp>
        <p:nvSpPr>
          <p:cNvPr id="3" name="Content Placeholder 2">
            <a:extLst>
              <a:ext uri="{FF2B5EF4-FFF2-40B4-BE49-F238E27FC236}">
                <a16:creationId xmlns:a16="http://schemas.microsoft.com/office/drawing/2014/main" id="{CF38F62D-1714-EAA5-B33F-5A5CAECBCDE0}"/>
              </a:ext>
            </a:extLst>
          </p:cNvPr>
          <p:cNvSpPr>
            <a:spLocks noGrp="1"/>
          </p:cNvSpPr>
          <p:nvPr>
            <p:ph idx="1"/>
          </p:nvPr>
        </p:nvSpPr>
        <p:spPr>
          <a:xfrm>
            <a:off x="838200" y="1103811"/>
            <a:ext cx="10515600" cy="5073152"/>
          </a:xfrm>
        </p:spPr>
        <p:txBody>
          <a:bodyPr>
            <a:normAutofit fontScale="92500" lnSpcReduction="20000"/>
          </a:bodyPr>
          <a:lstStyle/>
          <a:p>
            <a:pPr marL="0" indent="0">
              <a:buNone/>
            </a:pPr>
            <a:r>
              <a:rPr lang="en-US" sz="2000" b="1" dirty="0"/>
              <a:t>1.</a:t>
            </a:r>
            <a:r>
              <a:rPr lang="en-US" sz="1800" b="1" dirty="0"/>
              <a:t>Create GitHub repo for website:</a:t>
            </a:r>
          </a:p>
          <a:p>
            <a:r>
              <a:rPr lang="en-US" sz="1800" dirty="0"/>
              <a:t>cd your_website_folder</a:t>
            </a:r>
          </a:p>
          <a:p>
            <a:r>
              <a:rPr lang="en-US" sz="1800" dirty="0"/>
              <a:t>   git init</a:t>
            </a:r>
          </a:p>
          <a:p>
            <a:r>
              <a:rPr lang="en-US" sz="1800" dirty="0"/>
              <a:t>   git add .</a:t>
            </a:r>
          </a:p>
          <a:p>
            <a:r>
              <a:rPr lang="en-US" sz="1800" dirty="0"/>
              <a:t>   git commit -m "Website launch"</a:t>
            </a:r>
          </a:p>
          <a:p>
            <a:r>
              <a:rPr lang="en-US" sz="1800" dirty="0"/>
              <a:t>   git remote add origin https://github.com/kurban100/neuronmachinellc.git</a:t>
            </a:r>
          </a:p>
          <a:p>
            <a:r>
              <a:rPr lang="en-US" sz="1800" dirty="0"/>
              <a:t>   git push -u origin main</a:t>
            </a:r>
          </a:p>
          <a:p>
            <a:pPr marL="0" indent="0">
              <a:buNone/>
            </a:pPr>
            <a:r>
              <a:rPr lang="en-US" sz="1800" dirty="0"/>
              <a:t>2. Enable GitHub Pages:</a:t>
            </a:r>
          </a:p>
          <a:p>
            <a:pPr marL="457200" lvl="1" indent="0">
              <a:buNone/>
            </a:pPr>
            <a:r>
              <a:rPr lang="en-US" sz="1400" dirty="0"/>
              <a:t>Go to repo settings</a:t>
            </a:r>
          </a:p>
          <a:p>
            <a:pPr marL="457200" lvl="1" indent="0">
              <a:buNone/>
            </a:pPr>
            <a:r>
              <a:rPr lang="en-US" sz="1400" dirty="0"/>
              <a:t>Scroll to "GitHub Pages“</a:t>
            </a:r>
          </a:p>
          <a:p>
            <a:pPr marL="457200" lvl="1" indent="0">
              <a:buNone/>
            </a:pPr>
            <a:r>
              <a:rPr lang="en-US" sz="1400" dirty="0"/>
              <a:t>Branch: main</a:t>
            </a:r>
          </a:p>
          <a:p>
            <a:pPr marL="457200" lvl="1" indent="0">
              <a:buNone/>
            </a:pPr>
            <a:r>
              <a:rPr lang="en-US" sz="1400" dirty="0"/>
              <a:t>Save</a:t>
            </a:r>
          </a:p>
          <a:p>
            <a:r>
              <a:rPr lang="en-US" dirty="0"/>
              <a:t>3.</a:t>
            </a:r>
            <a:r>
              <a:rPr lang="en-US" b="1" dirty="0"/>
              <a:t> Point GoDaddy domain:</a:t>
            </a:r>
            <a:r>
              <a:rPr lang="en-US" dirty="0"/>
              <a:t> </a:t>
            </a:r>
          </a:p>
          <a:p>
            <a:pPr lvl="1"/>
            <a:r>
              <a:rPr lang="en-US" sz="1900" dirty="0"/>
              <a:t>GoDaddy → Manage DNS</a:t>
            </a:r>
          </a:p>
          <a:p>
            <a:pPr lvl="1"/>
            <a:r>
              <a:rPr lang="en-US" sz="1900" dirty="0"/>
              <a:t>Add GitHub Pages nameservers</a:t>
            </a:r>
          </a:p>
          <a:p>
            <a:pPr lvl="1"/>
            <a:r>
              <a:rPr lang="en-US" sz="1900" dirty="0"/>
              <a:t>Wait 24 hours</a:t>
            </a:r>
          </a:p>
          <a:p>
            <a:pPr lvl="1"/>
            <a:r>
              <a:rPr lang="en-US" sz="1900" dirty="0"/>
              <a:t>LIVE!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24975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A84DA-22E5-6C31-88F4-A27FAA920AC8}"/>
              </a:ext>
            </a:extLst>
          </p:cNvPr>
          <p:cNvSpPr>
            <a:spLocks noGrp="1"/>
          </p:cNvSpPr>
          <p:nvPr>
            <p:ph type="title"/>
          </p:nvPr>
        </p:nvSpPr>
        <p:spPr>
          <a:xfrm>
            <a:off x="838200" y="365125"/>
            <a:ext cx="10515600" cy="706029"/>
          </a:xfrm>
        </p:spPr>
        <p:txBody>
          <a:bodyPr>
            <a:normAutofit/>
          </a:bodyPr>
          <a:lstStyle/>
          <a:p>
            <a:pPr algn="ctr"/>
            <a:r>
              <a:rPr lang="en-US" sz="1800" dirty="0">
                <a:latin typeface="Arial Black" panose="020B0A04020102020204" pitchFamily="34" charset="0"/>
              </a:rPr>
              <a:t>READY TO PUSH?</a:t>
            </a:r>
          </a:p>
        </p:txBody>
      </p:sp>
      <p:sp>
        <p:nvSpPr>
          <p:cNvPr id="3" name="Content Placeholder 2">
            <a:extLst>
              <a:ext uri="{FF2B5EF4-FFF2-40B4-BE49-F238E27FC236}">
                <a16:creationId xmlns:a16="http://schemas.microsoft.com/office/drawing/2014/main" id="{6BDF4C12-AFD5-7D7D-C64C-4B506206D0F8}"/>
              </a:ext>
            </a:extLst>
          </p:cNvPr>
          <p:cNvSpPr>
            <a:spLocks noGrp="1"/>
          </p:cNvSpPr>
          <p:nvPr>
            <p:ph idx="1"/>
          </p:nvPr>
        </p:nvSpPr>
        <p:spPr>
          <a:xfrm>
            <a:off x="838200" y="1299754"/>
            <a:ext cx="10515600" cy="4877209"/>
          </a:xfrm>
        </p:spPr>
        <p:txBody>
          <a:bodyPr/>
          <a:lstStyle/>
          <a:p>
            <a:r>
              <a:rPr lang="en-US" sz="1800" dirty="0"/>
              <a:t>Tell me when:</a:t>
            </a:r>
          </a:p>
          <a:p>
            <a:r>
              <a:rPr lang="en-US" sz="1800" dirty="0"/>
              <a:t>✅ Repo created?</a:t>
            </a:r>
          </a:p>
          <a:p>
            <a:r>
              <a:rPr lang="en-US" sz="1800" dirty="0"/>
              <a:t>✅ Files pushed?</a:t>
            </a:r>
          </a:p>
          <a:p>
            <a:r>
              <a:rPr lang="en-US" sz="1800" dirty="0"/>
              <a:t>✅ GitHub Pages enabled?</a:t>
            </a:r>
          </a:p>
          <a:p>
            <a:r>
              <a:rPr lang="en-US" sz="1800" dirty="0"/>
              <a:t>✅ Domain pointed?</a:t>
            </a:r>
          </a:p>
          <a:p>
            <a:r>
              <a:rPr lang="en-US" sz="1800" b="1" dirty="0"/>
              <a:t>THEN YOU'RE LIVE!</a:t>
            </a:r>
            <a:r>
              <a:rPr lang="en-US" sz="1800" dirty="0"/>
              <a:t> 🎉</a:t>
            </a:r>
          </a:p>
          <a:p>
            <a:r>
              <a:rPr lang="en-US" sz="1800" dirty="0"/>
              <a:t>What's your status? 🎯</a:t>
            </a:r>
          </a:p>
          <a:p>
            <a:endParaRPr lang="en-US" dirty="0"/>
          </a:p>
        </p:txBody>
      </p:sp>
    </p:spTree>
    <p:extLst>
      <p:ext uri="{BB962C8B-B14F-4D97-AF65-F5344CB8AC3E}">
        <p14:creationId xmlns:p14="http://schemas.microsoft.com/office/powerpoint/2010/main" val="1846146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289AD-DC2C-051D-5EDA-EA825F48E371}"/>
              </a:ext>
            </a:extLst>
          </p:cNvPr>
          <p:cNvSpPr>
            <a:spLocks noGrp="1"/>
          </p:cNvSpPr>
          <p:nvPr>
            <p:ph type="title"/>
          </p:nvPr>
        </p:nvSpPr>
        <p:spPr/>
        <p:txBody>
          <a:bodyPr>
            <a:normAutofit/>
          </a:bodyPr>
          <a:lstStyle/>
          <a:p>
            <a:pPr algn="ctr"/>
            <a:r>
              <a:rPr lang="en-US" sz="1800" dirty="0">
                <a:latin typeface="Arial Black" panose="020B0A04020102020204" pitchFamily="34" charset="0"/>
              </a:rPr>
              <a:t>Email removed:</a:t>
            </a:r>
          </a:p>
        </p:txBody>
      </p:sp>
      <p:sp>
        <p:nvSpPr>
          <p:cNvPr id="3" name="Content Placeholder 2">
            <a:extLst>
              <a:ext uri="{FF2B5EF4-FFF2-40B4-BE49-F238E27FC236}">
                <a16:creationId xmlns:a16="http://schemas.microsoft.com/office/drawing/2014/main" id="{B2932A8A-8C8D-BEE2-0A37-ADA9B46DE1C0}"/>
              </a:ext>
            </a:extLst>
          </p:cNvPr>
          <p:cNvSpPr>
            <a:spLocks noGrp="1"/>
          </p:cNvSpPr>
          <p:nvPr>
            <p:ph idx="1"/>
          </p:nvPr>
        </p:nvSpPr>
        <p:spPr/>
        <p:txBody>
          <a:bodyPr/>
          <a:lstStyle/>
          <a:p>
            <a:pPr marL="0" indent="0">
              <a:buNone/>
            </a:pPr>
            <a:r>
              <a:rPr lang="en-US" sz="1800" dirty="0"/>
              <a:t>&lt;!-- Phone --&gt;</a:t>
            </a:r>
          </a:p>
          <a:p>
            <a:pPr marL="0" indent="0">
              <a:buNone/>
            </a:pPr>
            <a:r>
              <a:rPr lang="en-US" sz="1800" dirty="0"/>
              <a:t>    &lt;p class="w3-xlarge"&gt;&lt;i class="fa fa-phone fa-</a:t>
            </a:r>
            <a:r>
              <a:rPr lang="en-US" sz="1800" dirty="0" err="1"/>
              <a:t>fw</a:t>
            </a:r>
            <a:r>
              <a:rPr lang="en-US" sz="1800" dirty="0"/>
              <a:t> w3-margin-right w3-text-teal"&gt;&lt;/i&gt;Phone: 345-264-2819&lt;/p&gt;</a:t>
            </a:r>
          </a:p>
          <a:p>
            <a:pPr marL="0" indent="0">
              <a:buNone/>
            </a:pPr>
            <a:r>
              <a:rPr lang="en-US" sz="1800" dirty="0"/>
              <a:t>    &lt;!--Email--&gt;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114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1D752A-4485-4CB4-7023-D28BBF40F3D0}"/>
              </a:ext>
            </a:extLst>
          </p:cNvPr>
          <p:cNvSpPr>
            <a:spLocks noGrp="1"/>
          </p:cNvSpPr>
          <p:nvPr>
            <p:ph idx="1"/>
          </p:nvPr>
        </p:nvSpPr>
        <p:spPr>
          <a:xfrm>
            <a:off x="838200" y="568234"/>
            <a:ext cx="10515600" cy="5608729"/>
          </a:xfrm>
        </p:spPr>
        <p:txBody>
          <a:bodyPr>
            <a:normAutofit fontScale="55000" lnSpcReduction="20000"/>
          </a:bodyPr>
          <a:lstStyle/>
          <a:p>
            <a:pPr marL="0" indent="0">
              <a:buNone/>
            </a:pPr>
            <a:r>
              <a:rPr lang="en-US" dirty="0"/>
              <a:t>&lt;div class="w3-third w3-container"&gt;</a:t>
            </a:r>
          </a:p>
          <a:p>
            <a:pPr marL="0" indent="0">
              <a:buNone/>
            </a:pPr>
            <a:r>
              <a:rPr lang="en-US" dirty="0"/>
              <a:t>        &lt;div class="w3-padding-16"&gt;</a:t>
            </a:r>
          </a:p>
          <a:p>
            <a:pPr marL="0" indent="0">
              <a:buNone/>
            </a:pPr>
            <a:r>
              <a:rPr lang="en-US" dirty="0"/>
              <a:t>          &lt;h4 class="w3-border-bottom w3-padding-16" style="font-weight: bold; margin-top: 0;"&gt;Technical Modules&lt;/h4&gt;</a:t>
            </a:r>
          </a:p>
          <a:p>
            <a:pPr marL="0" indent="0">
              <a:buNone/>
            </a:pPr>
            <a:r>
              <a:rPr lang="en-US" dirty="0"/>
              <a:t>          &lt;div class="w3-card w3-light-grey w3-margin-bottom w3-container w3-padding-16"&gt;</a:t>
            </a:r>
          </a:p>
          <a:p>
            <a:pPr marL="0" indent="0">
              <a:buNone/>
            </a:pPr>
            <a:r>
              <a:rPr lang="en-US" dirty="0"/>
              <a:t>            &lt;h5&gt;&lt;b&gt;Active Lab Node&lt;/b&gt;&lt;/h5&gt;</a:t>
            </a:r>
          </a:p>
          <a:p>
            <a:pPr marL="0" indent="0">
              <a:buNone/>
            </a:pPr>
            <a:r>
              <a:rPr lang="en-US" dirty="0"/>
              <a:t>            &lt;p class="w3-small"&gt;Download the primary slide deck sequence located on the left menu sidebar to evaluate neural engine baselines.&lt;/p&gt;</a:t>
            </a:r>
          </a:p>
          <a:p>
            <a:pPr marL="0" indent="0">
              <a:buNone/>
            </a:pPr>
            <a:r>
              <a:rPr lang="en-US" dirty="0"/>
              <a:t>          &lt;/div&gt;</a:t>
            </a:r>
          </a:p>
          <a:p>
            <a:pPr marL="0" indent="0">
              <a:buNone/>
            </a:pPr>
            <a:r>
              <a:rPr lang="en-US" dirty="0"/>
              <a:t>          &lt;div class="w3-card w3-light-grey w3-margin-bottom w3-container w3-padding-16"&gt;</a:t>
            </a:r>
          </a:p>
          <a:p>
            <a:pPr marL="0" indent="0">
              <a:buNone/>
            </a:pPr>
            <a:r>
              <a:rPr lang="en-US" dirty="0"/>
              <a:t>            &lt;h5&gt;&lt;b&gt;Domain Focus&lt;/b&gt;&lt;/h5&gt;</a:t>
            </a:r>
          </a:p>
          <a:p>
            <a:pPr marL="0" indent="0">
              <a:buNone/>
            </a:pPr>
            <a:r>
              <a:rPr lang="en-US" dirty="0"/>
              <a:t>            &lt;p class="w3-small"&gt;Review the Agricultural Engineering and Soil modules to view the underlying substrate translation maps.&lt;/p&gt;</a:t>
            </a:r>
          </a:p>
          <a:p>
            <a:pPr marL="0" indent="0">
              <a:buNone/>
            </a:pPr>
            <a:r>
              <a:rPr lang="en-US" dirty="0"/>
              <a:t>          &lt;/div&gt;</a:t>
            </a:r>
          </a:p>
          <a:p>
            <a:pPr marL="0" indent="0">
              <a:buNone/>
            </a:pPr>
            <a:r>
              <a:rPr lang="en-US" dirty="0"/>
              <a:t>        &lt;/div&gt;</a:t>
            </a:r>
          </a:p>
          <a:p>
            <a:pPr marL="0" indent="0">
              <a:buNone/>
            </a:pPr>
            <a:r>
              <a:rPr lang="en-US" dirty="0"/>
              <a:t>      &lt;/div&gt;</a:t>
            </a:r>
          </a:p>
          <a:p>
            <a:pPr marL="0" indent="0">
              <a:buNone/>
            </a:pPr>
            <a:endParaRPr lang="en-US" dirty="0"/>
          </a:p>
          <a:p>
            <a:pPr marL="0" indent="0">
              <a:buNone/>
            </a:pPr>
            <a:r>
              <a:rPr lang="en-US" dirty="0"/>
              <a:t>    &lt;/div&gt;</a:t>
            </a:r>
          </a:p>
          <a:p>
            <a:pPr marL="0" indent="0">
              <a:buNone/>
            </a:pPr>
            <a:r>
              <a:rPr lang="en-US" dirty="0"/>
              <a:t>  &lt;/div&gt;</a:t>
            </a:r>
          </a:p>
          <a:p>
            <a:pPr marL="0" indent="0">
              <a:buNone/>
            </a:pPr>
            <a:endParaRPr lang="en-US" dirty="0"/>
          </a:p>
          <a:p>
            <a:endParaRPr lang="en-US" dirty="0"/>
          </a:p>
        </p:txBody>
      </p:sp>
    </p:spTree>
    <p:extLst>
      <p:ext uri="{BB962C8B-B14F-4D97-AF65-F5344CB8AC3E}">
        <p14:creationId xmlns:p14="http://schemas.microsoft.com/office/powerpoint/2010/main" val="1053860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FB668-8F47-4E00-BBF6-D0AE47B7444E}"/>
              </a:ext>
            </a:extLst>
          </p:cNvPr>
          <p:cNvSpPr>
            <a:spLocks noGrp="1"/>
          </p:cNvSpPr>
          <p:nvPr>
            <p:ph idx="1"/>
          </p:nvPr>
        </p:nvSpPr>
        <p:spPr>
          <a:xfrm>
            <a:off x="838200" y="894806"/>
            <a:ext cx="10515600" cy="5282157"/>
          </a:xfrm>
        </p:spPr>
        <p:txBody>
          <a:bodyPr>
            <a:normAutofit/>
          </a:bodyPr>
          <a:lstStyle/>
          <a:p>
            <a:pPr marL="0" indent="0">
              <a:buNone/>
            </a:pPr>
            <a:r>
              <a:rPr lang="en-US" sz="1800" dirty="0"/>
              <a:t>Contact Neuron Copilot</a:t>
            </a:r>
          </a:p>
          <a:p>
            <a:pPr marL="0" indent="0">
              <a:buNone/>
            </a:pPr>
            <a:r>
              <a:rPr lang="en-US" sz="1800" dirty="0"/>
              <a:t>Have questions? Reach out to our orchestration team directly.</a:t>
            </a:r>
          </a:p>
          <a:p>
            <a:pPr marL="0" indent="0">
              <a:buNone/>
            </a:pPr>
            <a:endParaRPr lang="en-US" sz="1800" dirty="0"/>
          </a:p>
          <a:p>
            <a:pPr marL="0" indent="0">
              <a:buNone/>
            </a:pPr>
            <a:r>
              <a:rPr lang="en-US" sz="1800" dirty="0"/>
              <a:t>Email: kurban@neuronmachinellc.com</a:t>
            </a:r>
          </a:p>
          <a:p>
            <a:pPr marL="0" indent="0">
              <a:buNone/>
            </a:pPr>
            <a:endParaRPr lang="en-US" sz="1800" dirty="0"/>
          </a:p>
          <a:p>
            <a:pPr marL="0" indent="0">
              <a:buNone/>
            </a:pPr>
            <a:r>
              <a:rPr lang="en-US" sz="1800" dirty="0" err="1"/>
              <a:t>Respository</a:t>
            </a:r>
            <a:r>
              <a:rPr lang="en-US" sz="1800" dirty="0"/>
              <a:t>: kurban100/neuroncopilot</a:t>
            </a:r>
          </a:p>
          <a:p>
            <a:pPr marL="0" indent="0">
              <a:buNone/>
            </a:pPr>
            <a:r>
              <a:rPr lang="en-US" sz="1800" dirty="0"/>
              <a:t>Technical Modules</a:t>
            </a:r>
          </a:p>
          <a:p>
            <a:pPr marL="0" indent="0">
              <a:buNone/>
            </a:pPr>
            <a:r>
              <a:rPr lang="en-US" sz="1800" dirty="0"/>
              <a:t>Active Lab Node</a:t>
            </a:r>
          </a:p>
          <a:p>
            <a:pPr marL="0" indent="0">
              <a:buNone/>
            </a:pPr>
            <a:r>
              <a:rPr lang="en-US" sz="1800" dirty="0"/>
              <a:t>Download the primary slide deck sequence located on the left menu sidebar to evaluate neural engine baselines.</a:t>
            </a:r>
          </a:p>
          <a:p>
            <a:pPr marL="0" indent="0">
              <a:buNone/>
            </a:pPr>
            <a:r>
              <a:rPr lang="en-US" sz="1800" dirty="0" err="1"/>
              <a:t>icultural</a:t>
            </a:r>
            <a:r>
              <a:rPr lang="en-US" sz="1800" dirty="0"/>
              <a:t> Engineering and Soil modules to view the underlying substrate translation maps.</a:t>
            </a:r>
          </a:p>
          <a:p>
            <a:pPr marL="0" indent="0">
              <a:buNone/>
            </a:pPr>
            <a:r>
              <a:rPr lang="en-US" sz="1800" dirty="0"/>
              <a:t>Domain Focus</a:t>
            </a:r>
          </a:p>
          <a:p>
            <a:pPr marL="0" indent="0">
              <a:buNone/>
            </a:pPr>
            <a:r>
              <a:rPr lang="en-US" sz="1800" dirty="0"/>
              <a:t>This section needs to be fixed. Download the an</a:t>
            </a:r>
            <a:r>
              <a:rPr lang="en-US" dirty="0"/>
              <a:t>d Review the are hidden</a:t>
            </a:r>
          </a:p>
          <a:p>
            <a:endParaRPr lang="en-US" dirty="0"/>
          </a:p>
        </p:txBody>
      </p:sp>
    </p:spTree>
    <p:extLst>
      <p:ext uri="{BB962C8B-B14F-4D97-AF65-F5344CB8AC3E}">
        <p14:creationId xmlns:p14="http://schemas.microsoft.com/office/powerpoint/2010/main" val="790900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2E405C-A237-9754-9E7D-A198D189EDE6}"/>
              </a:ext>
            </a:extLst>
          </p:cNvPr>
          <p:cNvSpPr>
            <a:spLocks noGrp="1"/>
          </p:cNvSpPr>
          <p:nvPr>
            <p:ph idx="1"/>
          </p:nvPr>
        </p:nvSpPr>
        <p:spPr/>
        <p:txBody>
          <a:bodyPr/>
          <a:lstStyle/>
          <a:p>
            <a:r>
              <a:rPr lang="en-US" sz="1800" dirty="0"/>
              <a:t>To unhide and fix the missing "Download the" and "Review the" text fragments, the text needs to be properly wrapped inside the &lt;p&gt; tags without being cut off by improper HTML structure or mismatched copy-pasting.</a:t>
            </a:r>
          </a:p>
          <a:p>
            <a:r>
              <a:rPr lang="en-US" sz="1800" dirty="0"/>
              <a:t>Here is the clean, fixed HTML code that restores the full sentences for both technical modules:</a:t>
            </a:r>
          </a:p>
          <a:p>
            <a:pPr marL="0" indent="0">
              <a:buNone/>
            </a:pPr>
            <a:endParaRPr lang="en-US" dirty="0"/>
          </a:p>
        </p:txBody>
      </p:sp>
    </p:spTree>
    <p:extLst>
      <p:ext uri="{BB962C8B-B14F-4D97-AF65-F5344CB8AC3E}">
        <p14:creationId xmlns:p14="http://schemas.microsoft.com/office/powerpoint/2010/main" val="1475717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8A923F-5AEE-238D-9F67-D0C3E37566AD}"/>
              </a:ext>
            </a:extLst>
          </p:cNvPr>
          <p:cNvSpPr>
            <a:spLocks noGrp="1"/>
          </p:cNvSpPr>
          <p:nvPr>
            <p:ph idx="1"/>
          </p:nvPr>
        </p:nvSpPr>
        <p:spPr>
          <a:xfrm>
            <a:off x="838200" y="718458"/>
            <a:ext cx="10515600" cy="5458506"/>
          </a:xfrm>
        </p:spPr>
        <p:txBody>
          <a:bodyPr>
            <a:normAutofit fontScale="85000" lnSpcReduction="20000"/>
          </a:bodyPr>
          <a:lstStyle/>
          <a:p>
            <a:pPr marL="0" indent="0">
              <a:buNone/>
            </a:pPr>
            <a:r>
              <a:rPr lang="en-US" sz="1900" dirty="0"/>
              <a:t>&lt;div class="w3-third w3-container"&gt;  </a:t>
            </a:r>
          </a:p>
          <a:p>
            <a:pPr marL="0" indent="0">
              <a:buNone/>
            </a:pPr>
            <a:r>
              <a:rPr lang="en-US" sz="1900" dirty="0"/>
              <a:t>&lt;div class="w3-padding-16"&gt;    </a:t>
            </a:r>
          </a:p>
          <a:p>
            <a:pPr marL="0" indent="0">
              <a:buNone/>
            </a:pPr>
            <a:r>
              <a:rPr lang="en-US" sz="1900" dirty="0"/>
              <a:t>      &lt;h4 class="w3-border-bottom w3-padding-16" style="font-weight: bold; margin-top: 0;"&gt;Technical Modules&lt;/h4&gt;        </a:t>
            </a:r>
          </a:p>
          <a:p>
            <a:pPr marL="0" indent="0">
              <a:buNone/>
            </a:pPr>
            <a:r>
              <a:rPr lang="en-US" sz="1900" dirty="0"/>
              <a:t>      &lt;!-- Active Lab Node Module --&gt;    </a:t>
            </a:r>
          </a:p>
          <a:p>
            <a:pPr marL="0" indent="0">
              <a:buNone/>
            </a:pPr>
            <a:r>
              <a:rPr lang="en-US" sz="1900" dirty="0"/>
              <a:t>      &lt;div class="w3-card w3-light-grey w3-margin-bottom w3-container w3-padding-16"&gt; </a:t>
            </a:r>
          </a:p>
          <a:p>
            <a:pPr marL="0" indent="0">
              <a:buNone/>
            </a:pPr>
            <a:r>
              <a:rPr lang="en-US" sz="1900" dirty="0"/>
              <a:t>       &lt;h5&gt;&lt;b&gt;Active Lab Node&lt;/b&gt;&lt;/h5&gt;       </a:t>
            </a:r>
          </a:p>
          <a:p>
            <a:pPr marL="0" indent="0">
              <a:buNone/>
            </a:pPr>
            <a:r>
              <a:rPr lang="en-US" sz="1900" dirty="0"/>
              <a:t>        &lt;p class="w3-small"&gt;Download the primary slide deck sequence located on the left menu sidebar to evaluate neural engine baselines.</a:t>
            </a:r>
          </a:p>
          <a:p>
            <a:pPr marL="0" indent="0">
              <a:buNone/>
            </a:pPr>
            <a:r>
              <a:rPr lang="en-US" sz="1900" dirty="0"/>
              <a:t>         &lt;/p&gt;    </a:t>
            </a:r>
          </a:p>
          <a:p>
            <a:pPr marL="0" indent="0">
              <a:buNone/>
            </a:pPr>
            <a:r>
              <a:rPr lang="en-US" sz="1900" dirty="0"/>
              <a:t>      &lt;/div&gt;        </a:t>
            </a:r>
          </a:p>
          <a:p>
            <a:pPr marL="0" indent="0">
              <a:buNone/>
            </a:pPr>
            <a:r>
              <a:rPr lang="en-US" sz="1900" dirty="0"/>
              <a:t>      &lt;!-- Fixed Domain Focus Module --&gt;    </a:t>
            </a:r>
          </a:p>
          <a:p>
            <a:pPr marL="0" indent="0">
              <a:buNone/>
            </a:pPr>
            <a:r>
              <a:rPr lang="en-US" sz="1900" dirty="0"/>
              <a:t>      &lt;div class="w3-card w3-light-grey w3-margin-bottom w3-container w3-padding-16"&gt;   </a:t>
            </a:r>
          </a:p>
          <a:p>
            <a:pPr marL="0" indent="0">
              <a:buNone/>
            </a:pPr>
            <a:r>
              <a:rPr lang="en-US" sz="1900" dirty="0"/>
              <a:t>             &lt;h5&gt;&lt;b&gt;Domain Focus&lt;/b&gt;&lt;/h5&gt;      </a:t>
            </a:r>
          </a:p>
          <a:p>
            <a:pPr marL="0" indent="0">
              <a:buNone/>
            </a:pPr>
            <a:r>
              <a:rPr lang="en-US" sz="1900" dirty="0"/>
              <a:t>             &lt;p class="w3-small"&gt;Review the Agricultural Engineering and Soil modules to view the underlying substrate translation maps.</a:t>
            </a:r>
          </a:p>
          <a:p>
            <a:pPr marL="0" indent="0">
              <a:buNone/>
            </a:pPr>
            <a:r>
              <a:rPr lang="en-US" sz="1900" dirty="0"/>
              <a:t>             &lt;/p&gt;    </a:t>
            </a:r>
          </a:p>
          <a:p>
            <a:pPr marL="0" indent="0">
              <a:buNone/>
            </a:pPr>
            <a:r>
              <a:rPr lang="en-US" sz="1900" dirty="0"/>
              <a:t>         &lt;/div&gt;  </a:t>
            </a:r>
          </a:p>
          <a:p>
            <a:pPr marL="0" indent="0">
              <a:buNone/>
            </a:pPr>
            <a:r>
              <a:rPr lang="en-US" sz="1900" dirty="0"/>
              <a:t>    &lt;/div&gt;</a:t>
            </a:r>
          </a:p>
          <a:p>
            <a:pPr marL="0" indent="0">
              <a:buNone/>
            </a:pPr>
            <a:r>
              <a:rPr lang="en-US" sz="1900" dirty="0"/>
              <a:t>&lt;/div&gt;</a:t>
            </a:r>
          </a:p>
          <a:p>
            <a:pPr marL="0" indent="0">
              <a:buNone/>
            </a:pPr>
            <a:endParaRPr lang="en-US" dirty="0"/>
          </a:p>
        </p:txBody>
      </p:sp>
    </p:spTree>
    <p:extLst>
      <p:ext uri="{BB962C8B-B14F-4D97-AF65-F5344CB8AC3E}">
        <p14:creationId xmlns:p14="http://schemas.microsoft.com/office/powerpoint/2010/main" val="411550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28344-DCDC-0253-10D5-AED5CEDA01A6}"/>
              </a:ext>
            </a:extLst>
          </p:cNvPr>
          <p:cNvSpPr>
            <a:spLocks noGrp="1"/>
          </p:cNvSpPr>
          <p:nvPr>
            <p:ph type="title"/>
          </p:nvPr>
        </p:nvSpPr>
        <p:spPr>
          <a:xfrm>
            <a:off x="838200" y="365126"/>
            <a:ext cx="10515600" cy="608058"/>
          </a:xfrm>
        </p:spPr>
        <p:txBody>
          <a:bodyPr>
            <a:normAutofit/>
          </a:bodyPr>
          <a:lstStyle/>
          <a:p>
            <a:pPr algn="ctr"/>
            <a:r>
              <a:rPr lang="en-US" sz="2400" dirty="0">
                <a:latin typeface="Arial Black" panose="020B0A04020102020204" pitchFamily="34" charset="0"/>
              </a:rPr>
              <a:t>Key Corrections Made</a:t>
            </a:r>
          </a:p>
        </p:txBody>
      </p:sp>
      <p:sp>
        <p:nvSpPr>
          <p:cNvPr id="3" name="Content Placeholder 2">
            <a:extLst>
              <a:ext uri="{FF2B5EF4-FFF2-40B4-BE49-F238E27FC236}">
                <a16:creationId xmlns:a16="http://schemas.microsoft.com/office/drawing/2014/main" id="{4478BE73-654A-3F9F-8285-D065F5FCB1B2}"/>
              </a:ext>
            </a:extLst>
          </p:cNvPr>
          <p:cNvSpPr>
            <a:spLocks noGrp="1"/>
          </p:cNvSpPr>
          <p:nvPr>
            <p:ph idx="1"/>
          </p:nvPr>
        </p:nvSpPr>
        <p:spPr>
          <a:xfrm>
            <a:off x="838200" y="1201783"/>
            <a:ext cx="10515600" cy="4975180"/>
          </a:xfrm>
        </p:spPr>
        <p:txBody>
          <a:bodyPr/>
          <a:lstStyle/>
          <a:p>
            <a:r>
              <a:rPr lang="en-US" sz="1800" b="1" dirty="0"/>
              <a:t>Merged Fragmented Text</a:t>
            </a:r>
            <a:r>
              <a:rPr lang="en-US" sz="1800" dirty="0"/>
              <a:t>: Replaced the broken line (</a:t>
            </a:r>
            <a:r>
              <a:rPr lang="en-US" sz="1800" dirty="0" err="1"/>
              <a:t>icultural</a:t>
            </a:r>
            <a:r>
              <a:rPr lang="en-US" sz="1800" dirty="0"/>
              <a:t> Engineering and Soil...) with the complete, cohesive sentence.</a:t>
            </a:r>
          </a:p>
          <a:p>
            <a:r>
              <a:rPr lang="en-US" sz="1800" b="1" dirty="0"/>
              <a:t>Restored Hierarchy</a:t>
            </a:r>
            <a:r>
              <a:rPr lang="en-US" sz="1800" dirty="0"/>
              <a:t>: Placed the full "Review the..." sentence cleanly inside the &lt;p class="w3-small"&gt; element directly underneath the </a:t>
            </a:r>
            <a:r>
              <a:rPr lang="en-US" sz="1800" b="1" dirty="0"/>
              <a:t>Domain Focus</a:t>
            </a:r>
            <a:r>
              <a:rPr lang="en-US" sz="1800" dirty="0"/>
              <a:t> header.</a:t>
            </a:r>
          </a:p>
          <a:p>
            <a:r>
              <a:rPr lang="en-US" sz="1800" b="1" dirty="0"/>
              <a:t>Validated Structure</a:t>
            </a:r>
            <a:r>
              <a:rPr lang="en-US" sz="1800" dirty="0"/>
              <a:t>: Ensured all W3.CSS card classes (w3-card, w3-light-grey) maintain uniform padding and layout alignment.</a:t>
            </a:r>
          </a:p>
          <a:p>
            <a:r>
              <a:rPr lang="en-US" sz="1800" dirty="0"/>
              <a:t>If the text is still cutting off at exactly "ules", your </a:t>
            </a:r>
            <a:r>
              <a:rPr lang="en-US" sz="1800" b="1" dirty="0"/>
              <a:t>left sidebar menu</a:t>
            </a:r>
            <a:r>
              <a:rPr lang="en-US" sz="1800" dirty="0"/>
              <a:t> is physically overlapping the text area. The layout is rendering underneath the sidebar instead of next to it.</a:t>
            </a:r>
          </a:p>
          <a:p>
            <a:r>
              <a:rPr lang="en-US" sz="1800" dirty="0"/>
              <a:t>To fix this, we need to push (shift) the entire container to the right using W3.CSS margin utilities or explicit inline styles.</a:t>
            </a:r>
          </a:p>
          <a:p>
            <a:r>
              <a:rPr lang="en-US" sz="1800" dirty="0"/>
              <a:t>Here is the updated code with a </a:t>
            </a:r>
            <a:r>
              <a:rPr lang="en-US" sz="1800" b="1" dirty="0"/>
              <a:t>left margin shift</a:t>
            </a:r>
            <a:r>
              <a:rPr lang="en-US" sz="1800" dirty="0"/>
              <a:t> applied. Copy and paste this version:</a:t>
            </a:r>
          </a:p>
          <a:p>
            <a:pPr marL="0" indent="0">
              <a:buNone/>
            </a:pPr>
            <a:endParaRPr lang="en-US" dirty="0"/>
          </a:p>
        </p:txBody>
      </p:sp>
    </p:spTree>
    <p:extLst>
      <p:ext uri="{BB962C8B-B14F-4D97-AF65-F5344CB8AC3E}">
        <p14:creationId xmlns:p14="http://schemas.microsoft.com/office/powerpoint/2010/main" val="2786140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10BFBE-224D-CEA0-BF61-1F5A3BF059A9}"/>
              </a:ext>
            </a:extLst>
          </p:cNvPr>
          <p:cNvSpPr>
            <a:spLocks noGrp="1"/>
          </p:cNvSpPr>
          <p:nvPr>
            <p:ph idx="1"/>
          </p:nvPr>
        </p:nvSpPr>
        <p:spPr>
          <a:xfrm>
            <a:off x="838200" y="130629"/>
            <a:ext cx="10515600" cy="6072460"/>
          </a:xfrm>
        </p:spPr>
        <p:txBody>
          <a:bodyPr>
            <a:normAutofit fontScale="47500" lnSpcReduction="20000"/>
          </a:bodyPr>
          <a:lstStyle/>
          <a:p>
            <a:pPr marL="0" indent="0">
              <a:buNone/>
            </a:pPr>
            <a:r>
              <a:rPr lang="en-US" sz="2900" dirty="0"/>
              <a:t>&lt;!-- Shifted Container to prevent Left Sidebar overlap --&gt;</a:t>
            </a:r>
          </a:p>
          <a:p>
            <a:pPr marL="0" indent="0">
              <a:buNone/>
            </a:pPr>
            <a:r>
              <a:rPr lang="en-US" sz="2900" dirty="0"/>
              <a:t>&lt;div class="w3-container" style="margin-left: 250px; display: block; clear: both;"&gt;</a:t>
            </a:r>
          </a:p>
          <a:p>
            <a:pPr marL="0" indent="0">
              <a:buNone/>
            </a:pPr>
            <a:r>
              <a:rPr lang="en-US" sz="2900" dirty="0"/>
              <a:t>  &lt;div class="w3-padding-16"&gt;</a:t>
            </a:r>
          </a:p>
          <a:p>
            <a:pPr marL="0" indent="0">
              <a:buNone/>
            </a:pPr>
            <a:r>
              <a:rPr lang="en-US" sz="2900" dirty="0"/>
              <a:t>    &lt;h4 class="w3-border-bottom w3-padding-16" style="font-weight: bold; margin-top: 0; display: block;"&gt;</a:t>
            </a:r>
          </a:p>
          <a:p>
            <a:pPr marL="0" indent="0">
              <a:buNone/>
            </a:pPr>
            <a:r>
              <a:rPr lang="en-US" sz="2900" dirty="0"/>
              <a:t>      Technical Modules</a:t>
            </a:r>
          </a:p>
          <a:p>
            <a:pPr marL="0" indent="0">
              <a:buNone/>
            </a:pPr>
            <a:r>
              <a:rPr lang="en-US" sz="2900" dirty="0"/>
              <a:t>    &lt;/h4&gt;</a:t>
            </a:r>
          </a:p>
          <a:p>
            <a:pPr marL="0" indent="0">
              <a:buNone/>
            </a:pPr>
            <a:r>
              <a:rPr lang="en-US" sz="2900" dirty="0"/>
              <a:t>      &lt;!-- Active Lab Node Card --&gt;</a:t>
            </a:r>
          </a:p>
          <a:p>
            <a:pPr marL="0" indent="0">
              <a:buNone/>
            </a:pPr>
            <a:r>
              <a:rPr lang="en-US" sz="2900" dirty="0"/>
              <a:t>    &lt;div class="w3-card w3-light-grey w3-margin-bottom w3-container w3-padding-16" style="display: block;"&gt;</a:t>
            </a:r>
          </a:p>
          <a:p>
            <a:pPr marL="0" indent="0">
              <a:buNone/>
            </a:pPr>
            <a:r>
              <a:rPr lang="en-US" sz="2900" dirty="0"/>
              <a:t>      &lt;h5 style="margin-top: 0; font-weight: bold;"&gt;Active Lab Node&lt;/h5&gt;</a:t>
            </a:r>
          </a:p>
          <a:p>
            <a:pPr marL="0" indent="0">
              <a:buNone/>
            </a:pPr>
            <a:r>
              <a:rPr lang="en-US" sz="2900" dirty="0"/>
              <a:t>      &lt;p class="w3-small" style="display: block; margin: 0;"&gt;</a:t>
            </a:r>
          </a:p>
          <a:p>
            <a:pPr marL="0" indent="0">
              <a:buNone/>
            </a:pPr>
            <a:r>
              <a:rPr lang="en-US" sz="2900" dirty="0"/>
              <a:t>        Download the primary slide deck sequence located on the left menu sidebar to evaluate neural engine baselines.</a:t>
            </a:r>
          </a:p>
          <a:p>
            <a:pPr marL="0" indent="0">
              <a:buNone/>
            </a:pPr>
            <a:r>
              <a:rPr lang="en-US" sz="2900" dirty="0"/>
              <a:t>      &lt;/p&gt;</a:t>
            </a:r>
          </a:p>
          <a:p>
            <a:pPr marL="0" indent="0">
              <a:buNone/>
            </a:pPr>
            <a:r>
              <a:rPr lang="en-US" sz="2900" dirty="0"/>
              <a:t>    &lt;/div&gt;</a:t>
            </a:r>
          </a:p>
          <a:p>
            <a:pPr marL="0" indent="0">
              <a:buNone/>
            </a:pPr>
            <a:r>
              <a:rPr lang="en-US" sz="2900" dirty="0"/>
              <a:t>       &lt;!-- Domain Focus Card --&gt;</a:t>
            </a:r>
          </a:p>
          <a:p>
            <a:pPr marL="0" indent="0">
              <a:buNone/>
            </a:pPr>
            <a:r>
              <a:rPr lang="en-US" sz="2900" dirty="0"/>
              <a:t>    &lt;div class="w3-card w3-light-grey w3-margin-bottom w3-container w3-padding-16" style="display: block;"&gt;</a:t>
            </a:r>
          </a:p>
          <a:p>
            <a:pPr marL="0" indent="0">
              <a:buNone/>
            </a:pPr>
            <a:r>
              <a:rPr lang="en-US" sz="2900" dirty="0"/>
              <a:t>      &lt;h5 style="margin-top: 0; font-weight: bold;"&gt;Domain Focus&lt;/h5&gt;</a:t>
            </a:r>
          </a:p>
          <a:p>
            <a:pPr marL="0" indent="0">
              <a:buNone/>
            </a:pPr>
            <a:r>
              <a:rPr lang="en-US" sz="2900" dirty="0"/>
              <a:t>      &lt;p class="w3-small" style="display: block; margin: 0;"&gt;</a:t>
            </a:r>
          </a:p>
          <a:p>
            <a:pPr marL="0" indent="0">
              <a:buNone/>
            </a:pPr>
            <a:r>
              <a:rPr lang="en-US" sz="2900" dirty="0"/>
              <a:t>        Review the Agricultural Engineering and Soil modules to view the underlying substrate translation maps.</a:t>
            </a:r>
          </a:p>
          <a:p>
            <a:pPr marL="0" indent="0">
              <a:buNone/>
            </a:pPr>
            <a:r>
              <a:rPr lang="en-US" sz="2900" dirty="0"/>
              <a:t>      &lt;/p&gt;</a:t>
            </a:r>
          </a:p>
          <a:p>
            <a:pPr marL="0" indent="0">
              <a:buNone/>
            </a:pPr>
            <a:r>
              <a:rPr lang="en-US" sz="2900" dirty="0"/>
              <a:t>    &lt;/div&gt;</a:t>
            </a:r>
          </a:p>
          <a:p>
            <a:pPr marL="0" indent="0">
              <a:buNone/>
            </a:pPr>
            <a:r>
              <a:rPr lang="en-US" sz="2900" dirty="0"/>
              <a:t>  &lt;/div&gt;</a:t>
            </a:r>
          </a:p>
          <a:p>
            <a:pPr marL="0" indent="0">
              <a:buNone/>
            </a:pPr>
            <a:r>
              <a:rPr lang="en-US" sz="2900" dirty="0"/>
              <a:t>&lt;/div&gt;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29563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1FF4B-A7ED-2736-110B-244E854DFD29}"/>
              </a:ext>
            </a:extLst>
          </p:cNvPr>
          <p:cNvSpPr>
            <a:spLocks noGrp="1"/>
          </p:cNvSpPr>
          <p:nvPr>
            <p:ph idx="1"/>
          </p:nvPr>
        </p:nvSpPr>
        <p:spPr/>
        <p:txBody>
          <a:bodyPr>
            <a:normAutofit/>
          </a:bodyPr>
          <a:lstStyle/>
          <a:p>
            <a:r>
              <a:rPr lang="en-US" sz="1800" dirty="0"/>
              <a:t>Because the left sidebar uses absolute or fixed positioning, it floats on top of the page layer. Without that margin-left shift, the main content area slips right underneath it, hiding the first 200 to 250 pixels of your text—which is why Technical Modules was losing its first few letters and rendering as just ules.</a:t>
            </a:r>
          </a:p>
        </p:txBody>
      </p:sp>
    </p:spTree>
    <p:extLst>
      <p:ext uri="{BB962C8B-B14F-4D97-AF65-F5344CB8AC3E}">
        <p14:creationId xmlns:p14="http://schemas.microsoft.com/office/powerpoint/2010/main" val="1268666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42F1FA-2B86-B83F-1870-1A4E9588100A}"/>
              </a:ext>
            </a:extLst>
          </p:cNvPr>
          <p:cNvSpPr>
            <a:spLocks noGrp="1"/>
          </p:cNvSpPr>
          <p:nvPr>
            <p:ph idx="1"/>
          </p:nvPr>
        </p:nvSpPr>
        <p:spPr>
          <a:xfrm>
            <a:off x="838200" y="287383"/>
            <a:ext cx="10515600" cy="5889580"/>
          </a:xfrm>
        </p:spPr>
        <p:txBody>
          <a:bodyPr>
            <a:normAutofit fontScale="40000" lnSpcReduction="20000"/>
          </a:bodyPr>
          <a:lstStyle/>
          <a:p>
            <a:r>
              <a:rPr lang="en-US" dirty="0"/>
              <a:t>&lt;div class="w3-container" style="margin-left: 250px; display: block; clear: both;"&gt;</a:t>
            </a:r>
          </a:p>
          <a:p>
            <a:r>
              <a:rPr lang="en-US" dirty="0"/>
              <a:t>  &lt;div class="w3-padding-16"&gt;</a:t>
            </a:r>
          </a:p>
          <a:p>
            <a:r>
              <a:rPr lang="en-US" dirty="0"/>
              <a:t>    &lt;h4 class="w3-border-bottom w3-padding-16" style="font-weight: bold; margin-top: 0; display: block;"&gt;</a:t>
            </a:r>
          </a:p>
          <a:p>
            <a:r>
              <a:rPr lang="en-US" dirty="0"/>
              <a:t>      Technical Modules</a:t>
            </a:r>
          </a:p>
          <a:p>
            <a:r>
              <a:rPr lang="en-US" dirty="0"/>
              <a:t>    &lt;/h4&gt;</a:t>
            </a:r>
          </a:p>
          <a:p>
            <a:r>
              <a:rPr lang="en-US" dirty="0"/>
              <a:t>    </a:t>
            </a:r>
          </a:p>
          <a:p>
            <a:r>
              <a:rPr lang="en-US" dirty="0"/>
              <a:t>    &lt;!-- Active Lab Node Card --&gt;</a:t>
            </a:r>
          </a:p>
          <a:p>
            <a:r>
              <a:rPr lang="en-US" dirty="0"/>
              <a:t>    &lt;div class="w3-card w3-light-grey w3-margin-bottom w3-container w3-padding-16" style="display: block;"&gt;</a:t>
            </a:r>
          </a:p>
          <a:p>
            <a:r>
              <a:rPr lang="en-US" dirty="0"/>
              <a:t>      &lt;h5 style="margin-top: 0; font-weight: bold;"&gt;Active Lab Node&lt;/h5&gt;</a:t>
            </a:r>
          </a:p>
          <a:p>
            <a:r>
              <a:rPr lang="en-US" dirty="0"/>
              <a:t>      &lt;p class="w3-small" style="display: block; margin: 0;"&gt;</a:t>
            </a:r>
          </a:p>
          <a:p>
            <a:r>
              <a:rPr lang="en-US" dirty="0"/>
              <a:t>        Download the primary slide deck sequence located on the left menu sidebar to evaluate neural engine baselines.</a:t>
            </a:r>
          </a:p>
          <a:p>
            <a:r>
              <a:rPr lang="en-US" dirty="0"/>
              <a:t>      &lt;/p&gt;</a:t>
            </a:r>
          </a:p>
          <a:p>
            <a:r>
              <a:rPr lang="en-US" dirty="0"/>
              <a:t>    &lt;/div&gt;</a:t>
            </a:r>
          </a:p>
          <a:p>
            <a:r>
              <a:rPr lang="en-US" dirty="0"/>
              <a:t>    </a:t>
            </a:r>
          </a:p>
          <a:p>
            <a:r>
              <a:rPr lang="en-US" dirty="0"/>
              <a:t>    &lt;!-- Domain Focus Card --&gt;</a:t>
            </a:r>
          </a:p>
          <a:p>
            <a:r>
              <a:rPr lang="en-US" dirty="0"/>
              <a:t>    &lt;div class="w3-card w3-light-grey w3-margin-bottom w3-container w3-padding-16" style="display: block;"&gt;</a:t>
            </a:r>
          </a:p>
          <a:p>
            <a:r>
              <a:rPr lang="en-US" dirty="0"/>
              <a:t>      &lt;h5 style="margin-top: 0; font-weight: bold;"&gt;Domain Focus&lt;/h5&gt;</a:t>
            </a:r>
          </a:p>
          <a:p>
            <a:r>
              <a:rPr lang="en-US" dirty="0"/>
              <a:t>      &lt;p class="w3-small" style="display: block; margin: 0;"&gt;</a:t>
            </a:r>
          </a:p>
          <a:p>
            <a:r>
              <a:rPr lang="en-US" dirty="0"/>
              <a:t>        Review the Agricultural Engineering and Soil modules to view the underlying substrate translation maps.</a:t>
            </a:r>
          </a:p>
          <a:p>
            <a:r>
              <a:rPr lang="en-US" dirty="0"/>
              <a:t>      &lt;/p&gt;</a:t>
            </a:r>
          </a:p>
          <a:p>
            <a:r>
              <a:rPr lang="en-US" dirty="0"/>
              <a:t>    &lt;/div&gt;</a:t>
            </a:r>
          </a:p>
          <a:p>
            <a:r>
              <a:rPr lang="en-US" dirty="0"/>
              <a:t>  &lt;/div&gt;</a:t>
            </a:r>
          </a:p>
          <a:p>
            <a:r>
              <a:rPr lang="en-US" dirty="0"/>
              <a:t>&lt;/div&gt;</a:t>
            </a:r>
          </a:p>
          <a:p>
            <a:pPr marL="0" indent="0">
              <a:buNone/>
            </a:pPr>
            <a:endParaRPr lang="en-US" dirty="0"/>
          </a:p>
          <a:p>
            <a:endParaRPr lang="en-US" dirty="0"/>
          </a:p>
        </p:txBody>
      </p:sp>
    </p:spTree>
    <p:extLst>
      <p:ext uri="{BB962C8B-B14F-4D97-AF65-F5344CB8AC3E}">
        <p14:creationId xmlns:p14="http://schemas.microsoft.com/office/powerpoint/2010/main" val="1733327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E927F-257A-B158-1866-FD0B74BCD7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A0E59D-7C9E-4326-21AA-330BE88B91CF}"/>
              </a:ext>
            </a:extLst>
          </p:cNvPr>
          <p:cNvSpPr>
            <a:spLocks noGrp="1"/>
          </p:cNvSpPr>
          <p:nvPr>
            <p:ph idx="1"/>
          </p:nvPr>
        </p:nvSpPr>
        <p:spPr/>
        <p:txBody>
          <a:bodyPr>
            <a:normAutofit fontScale="62500" lnSpcReduction="20000"/>
          </a:bodyPr>
          <a:lstStyle/>
          <a:p>
            <a:r>
              <a:rPr lang="en-US" sz="1800" b="1" dirty="0"/>
              <a:t>Option A: Change it to reflect your real codebase</a:t>
            </a:r>
          </a:p>
          <a:p>
            <a:r>
              <a:rPr lang="en-US" sz="1800" dirty="0"/>
              <a:t>If this text was a temporary placeholder, you should update it to reference the actual machine learning elements present in your app (such as RAG pipelines, </a:t>
            </a:r>
            <a:r>
              <a:rPr lang="en-US" sz="1800" dirty="0" err="1"/>
              <a:t>Streamlit</a:t>
            </a:r>
            <a:r>
              <a:rPr lang="en-US" sz="1800" dirty="0"/>
              <a:t> interfaces, or Neo4j data structures):</a:t>
            </a:r>
          </a:p>
          <a:p>
            <a:pPr marL="0" indent="0">
              <a:buNone/>
            </a:pPr>
            <a:r>
              <a:rPr lang="en-US" sz="1800" dirty="0"/>
              <a:t>&lt;!-- Real Code Architecture Alternative --&gt;&lt;p class="w3-small" style="display: block; margin: 0;"&gt;  Review the RAG framework and Neo4j graph modules to view the underlying concept dependency maps.&lt;/p&gt;</a:t>
            </a:r>
          </a:p>
          <a:p>
            <a:pPr marL="0" indent="0">
              <a:buNone/>
            </a:pPr>
            <a:endParaRPr lang="en-US" dirty="0"/>
          </a:p>
          <a:p>
            <a:pPr marL="0" indent="0">
              <a:buNone/>
            </a:pPr>
            <a:r>
              <a:rPr lang="en-US" dirty="0"/>
              <a:t>will replace this:</a:t>
            </a:r>
          </a:p>
          <a:p>
            <a:pPr marL="0" indent="0">
              <a:buNone/>
            </a:pPr>
            <a:r>
              <a:rPr lang="en-US" dirty="0"/>
              <a:t>	&lt;p class="w3-small" style="display: block; margin: 0;"&gt;</a:t>
            </a:r>
          </a:p>
          <a:p>
            <a:pPr marL="0" indent="0">
              <a:buNone/>
            </a:pPr>
            <a:r>
              <a:rPr lang="en-US" dirty="0"/>
              <a:t>        Review the Agricultural Engineering and Soil modules to view the underlying substrate translation maps.</a:t>
            </a:r>
          </a:p>
          <a:p>
            <a:pPr marL="0" indent="0">
              <a:buNone/>
            </a:pPr>
            <a:r>
              <a:rPr lang="en-US" dirty="0"/>
              <a:t>        &lt;/p&gt;</a:t>
            </a:r>
          </a:p>
          <a:p>
            <a:pPr marL="0" indent="0">
              <a:buNone/>
            </a:pPr>
            <a:endParaRPr lang="en-US" dirty="0"/>
          </a:p>
          <a:p>
            <a:pPr marL="0" indent="0">
              <a:buNone/>
            </a:pPr>
            <a:r>
              <a:rPr lang="en-US" dirty="0"/>
              <a:t>With:</a:t>
            </a:r>
          </a:p>
          <a:p>
            <a:pPr marL="0" indent="0">
              <a:buNone/>
            </a:pPr>
            <a:r>
              <a:rPr lang="en-US" dirty="0"/>
              <a:t> &lt;p class="w3-small" style="display: block; margin: 0;"&gt;</a:t>
            </a:r>
          </a:p>
          <a:p>
            <a:pPr marL="0" indent="0">
              <a:buNone/>
            </a:pPr>
            <a:r>
              <a:rPr lang="en-US" dirty="0"/>
              <a:t>  Review the RAG framework and Neo4j graph modules to view the underlying concept dependency maps.</a:t>
            </a:r>
          </a:p>
          <a:p>
            <a:pPr marL="0" indent="0">
              <a:buNone/>
            </a:pPr>
            <a:r>
              <a:rPr lang="en-US" dirty="0"/>
              <a:t>&lt;/p&gt;</a:t>
            </a:r>
          </a:p>
          <a:p>
            <a:pPr marL="0" indent="0">
              <a:buNone/>
            </a:pPr>
            <a:endParaRPr lang="en-US" dirty="0"/>
          </a:p>
        </p:txBody>
      </p:sp>
    </p:spTree>
    <p:extLst>
      <p:ext uri="{BB962C8B-B14F-4D97-AF65-F5344CB8AC3E}">
        <p14:creationId xmlns:p14="http://schemas.microsoft.com/office/powerpoint/2010/main" val="2859072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TotalTime>
  <Words>2130</Words>
  <Application>Microsoft Office PowerPoint</Application>
  <PresentationFormat>Widescreen</PresentationFormat>
  <Paragraphs>262</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Arial Black</vt:lpstr>
      <vt:lpstr>Times New Roman</vt:lpstr>
      <vt:lpstr>Office Theme</vt:lpstr>
      <vt:lpstr>Publish_NeuronCopilot</vt:lpstr>
      <vt:lpstr>neuronmachinellc.com! 💯</vt:lpstr>
      <vt:lpstr>Point GoDaddy domain to GitHub</vt:lpstr>
      <vt:lpstr>PowerPoint Presentation</vt:lpstr>
      <vt:lpstr>PowerPoint Presentation</vt:lpstr>
      <vt:lpstr>PowerPoint Presentation</vt:lpstr>
      <vt:lpstr>PowerPoint Presentation</vt:lpstr>
      <vt:lpstr>PowerPoint Presentation</vt:lpstr>
      <vt:lpstr>PowerPoint Presentation</vt:lpstr>
      <vt:lpstr>LAUNCH STEPS (DO NOW):</vt:lpstr>
      <vt:lpstr>READY TO PUSH?</vt:lpstr>
      <vt:lpstr>Email removed:</vt:lpstr>
      <vt:lpstr>PowerPoint Presentation</vt:lpstr>
      <vt:lpstr>PowerPoint Presentation</vt:lpstr>
      <vt:lpstr>PowerPoint Presentation</vt:lpstr>
      <vt:lpstr>PowerPoint Presentation</vt:lpstr>
      <vt:lpstr>Key Corrections Made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Kurban Niroomand</dc:creator>
  <cp:lastModifiedBy>Kurban Niroomand</cp:lastModifiedBy>
  <cp:revision>6</cp:revision>
  <dcterms:created xsi:type="dcterms:W3CDTF">2026-07-14T14:31:40Z</dcterms:created>
  <dcterms:modified xsi:type="dcterms:W3CDTF">2026-07-14T19:25:18Z</dcterms:modified>
</cp:coreProperties>
</file>